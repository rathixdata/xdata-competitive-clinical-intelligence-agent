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1.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75dea815-8677-df0f-c204-674a46490b48}">
          <p14:sldIdLst>
            <p14:sldId id="256"/>
            <p14:sldId id="257"/>
          </p14:sldIdLst>
        </p14:section>
        <p14:section name="Solution" id="{9b2c9dec-36c4-9664-1d82-90162fbea170}">
          <p14:sldIdLst>
            <p14:sldId id="258"/>
            <p14:sldId id="259"/>
          </p14:sldIdLst>
        </p14:section>
        <p14:section name="Trust" id="{312f2fbf-0f71-7b60-d054-ad38fdcf04d7}">
          <p14:sldIdLst>
            <p14:sldId id="260"/>
            <p14:sldId id="261"/>
          </p14:sldIdLst>
        </p14:section>
        <p14:section name="Delivery" id="{c03be5b0-d6ce-4d27-7796-684f63dd8077}">
          <p14:sldIdLst>
            <p14:sldId id="262"/>
            <p14:sldId id="26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B3B47"/>
                </a:solidFill>
                <a:latin typeface="+mn-lt"/>
              </a:defRPr>
            </a:pPr>
            <a:r>
              <a:rPr sz="1400" b="0" i="0" u="none" strike="noStrike">
                <a:solidFill>
                  <a:srgbClr val="0B3B47"/>
                </a:solidFill>
                <a:latin typeface="+mn-lt"/>
              </a:rPr>
              <a:t>Points contributed to the importance score</a:t>
            </a:r>
          </a:p>
        </c:rich>
      </c:tx>
      <c:layout/>
      <c:overlay val="0"/>
    </c:title>
    <c:autoTitleDeleted val="0"/>
    <c:plotArea>
      <c:layout/>
      <c:barChart>
        <c:barDir val="bar"/>
        <c:grouping val="clustered"/>
        <c:varyColors val="0"/>
        <c:ser>
          <c:idx val="0"/>
          <c:order val="0"/>
          <c:tx>
            <c:strRef>
              <c:f>Sheet1!$B$1</c:f>
              <c:strCache>
                <c:ptCount val="1"/>
                <c:pt idx="0">
                  <c:v>Points</c:v>
                </c:pt>
              </c:strCache>
            </c:strRef>
          </c:tx>
          <c:spPr>
            <a:solidFill>
              <a:srgbClr val="0F7C7A"/>
            </a:solidFill>
            <a:effectLst/>
          </c:spPr>
          <c:invertIfNegative val="0"/>
          <c:dLbls>
            <c:numFmt formatCode="0.#" sourceLinked="0"/>
            <c:txPr>
              <a:bodyPr/>
              <a:lstStyle/>
              <a:p>
                <a:pPr>
                  <a:defRPr b="0" i="0" strike="noStrike" sz="1300" u="none">
                    <a:solidFill>
                      <a:srgbClr val="14232E"/>
                    </a:solidFill>
                    <a:latin typeface="+mn-lt"/>
                  </a:defRPr>
                </a:pPr>
              </a:p>
            </c:txPr>
            <c:showLegendKey val="0"/>
            <c:showVal val="1"/>
            <c:showCatName val="0"/>
            <c:showSerName val="0"/>
            <c:showPercent val="0"/>
            <c:showBubbleSize val="0"/>
            <c:showLeaderLines val="0"/>
          </c:dLbls>
          <c:cat>
            <c:multiLvlStrRef>
              <c:f>Sheet1!$A$2:$A$6</c:f>
              <c:multiLvlStrCache>
                <c:ptCount val="5"/>
                <c:lvl>
                  <c:pt idx="0">
                    <c:v>Size of the change</c:v>
                  </c:pt>
                  <c:pt idx="1">
                    <c:v>How close to your drug</c:v>
                  </c:pt>
                  <c:pt idx="2">
                    <c:v>Relevance to your portfolio</c:v>
                  </c:pt>
                  <c:pt idx="3">
                    <c:v>Novelty</c:v>
                  </c:pt>
                  <c:pt idx="4">
                    <c:v>Timing</c:v>
                  </c:pt>
                </c:lvl>
              </c:multiLvlStrCache>
            </c:multiLvlStrRef>
          </c:cat>
          <c:val>
            <c:numRef>
              <c:f>Sheet1!$B$2:$B$6</c:f>
              <c:numCache>
                <c:formatCode>General</c:formatCode>
                <c:ptCount val="5"/>
                <c:pt idx="0">
                  <c:v>25</c:v>
                </c:pt>
                <c:pt idx="1">
                  <c:v>25</c:v>
                </c:pt>
                <c:pt idx="2">
                  <c:v>25</c:v>
                </c:pt>
                <c:pt idx="3">
                  <c:v>10</c:v>
                </c:pt>
                <c:pt idx="4">
                  <c:v>8.2</c:v>
                </c:pt>
              </c:numCache>
            </c:numRef>
          </c:val>
        </c:ser>
        <c:dLbls>
          <c:numFmt formatCode="0.#" sourceLinked="0"/>
          <c:txPr>
            <a:bodyPr/>
            <a:lstStyle/>
            <a:p>
              <a:pPr>
                <a:defRPr b="0" i="0" strike="noStrike" sz="1300" u="none">
                  <a:solidFill>
                    <a:srgbClr val="14232E"/>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4232E"/>
                </a:solidFill>
                <a:latin typeface="+mn-lt"/>
              </a:defRPr>
            </a:pPr>
            <a:endParaRPr lang="en-US"/>
          </a:p>
        </c:txPr>
        <c:crossAx val="2094734552"/>
        <c:crosses val="autoZero"/>
        <c:auto val="1"/>
        <c:lblAlgn val="ctr"/>
        <c:noMultiLvlLbl val="1"/>
      </c:catAx>
      <c:valAx>
        <c:axId val="2094734552"/>
        <c:scaling>
          <c:orientation val="minMax"/>
          <c:max val="3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XData CI Agent is an evidence-grounded competitive and clinical intelligence system for life sciences. It watches competitor trials, publications, FDA labels and SEC filings; detects what changed; decides whether it matters to your own drugs; and explains why, with every fact linked to its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problem: too many sources, changes that matter look like changes that don't, it takes days to get a verified update to leadership, and generic AI tools blur fact and guess.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steps. The structural facts (what changed, from what to what) are produced by deterministic code, not by the AI. The AI adds context and hypotheses, which are labelled and 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acceptance scenario from the requirements. Three simultaneous changes to a pivotal competitor trial: bigger enrollment, later completion, and a switch from ORR to PFS. The system detects all three, maps them to XD-101, scores 93 out of 100, and routes an Executive 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Explainable AI following the four NIST IR 8312 principles: explanation, meaningful, explanation accuracy, and knowledge limits. The score is deterministic and rule-based, so the breakdown is exact and an analyst can contest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Retrieval-augmented generation with hybrid retrieval: dense vectors, full-text search and an entity-scoped channel, fused with reciprocal rank fusion. A deterministic validator plus an independent LLM judge check each fact. The golden evaluation suite measures hallucination blocking and abstention as a release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Production qualities: PostgreSQL row-level security, OIDC/JWT and API keys with RBAC, hash-chained audit log, content-addressed immutable raw storage, Prometheus and OpenTelemetry, CI with lint, migrations, tests, security scans and the AI evaluation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Install command: curl -fsSL https://raw.githubusercontent.com/rathixdata/XData-Competitive-Clinical-Intelligence-Agent/refs/heads/claude/laughing-knuth-16lb2c/desktop/install-mac.sh | bash . Then add your drug, adjust the monitored searches, and optionally add a Claude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749040"/>
            <a:ext cx="7498080" cy="1280160"/>
          </a:xfrm>
          <a:prstGeom prst="rect">
            <a:avLst/>
          </a:prstGeom>
          <a:noFill/>
          <a:ln/>
        </p:spPr>
        <p:txBody>
          <a:bodyPr wrap="square" rtlCol="0"/>
          <a:lstStyle>
            <a:lvl1pPr indent="0" marL="0">
              <a:buNone/>
              <a:defRPr lang="en-US" sz="1800" dirty="0">
                <a:solidFill>
                  <a:schemeClr val="accent3"/>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rtlCol="0"/>
          <a:lstStyle>
            <a:lvl1pPr algn="l" indent="0" marL="0">
              <a:buNone/>
              <a:defRPr lang="en-US" sz="3200" b="1" dirty="0">
                <a:solidFill>
                  <a:schemeClr val="tx2"/>
                </a:solidFill>
              </a:defRPr>
            </a:lvl1pPr>
          </a:lstStyle>
          <a:p>
            <a:pPr algn="l" indent="0" marL="0">
              <a:buNone/>
            </a:pPr>
            <a:endParaRPr lang="en-US" sz="3200" dirty="0"/>
          </a:p>
        </p:txBody>
      </p:sp>
      <p:pic>
        <p:nvPicPr>
          <p:cNvPr id="3" name="Image 0" descr="/tmp/claude-0/-home-user-XData-Competitive-Clinical-Intelligence-Agent/f00f93d4-903b-5466-82ee-3a1d8c1c9082/scratchpad/xdata-official-logo.png">    </p:cNvPr>
          <p:cNvPicPr>
            <a:picLocks noChangeAspect="1"/>
          </p:cNvPicPr>
          <p:nvPr/>
        </p:nvPicPr>
        <p:blipFill>
          <a:blip r:embed="rId1"/>
          <a:stretch>
            <a:fillRect/>
          </a:stretch>
        </p:blipFill>
        <p:spPr>
          <a:xfrm>
            <a:off x="548640" y="6291072"/>
            <a:ext cx="427463" cy="420624"/>
          </a:xfrm>
          <a:prstGeom prst="rect">
            <a:avLst/>
          </a:prstGeom>
        </p:spPr>
      </p:pic>
      <p:sp>
        <p:nvSpPr>
          <p:cNvPr id="4" name="Text 0"/>
          <p:cNvSpPr/>
          <p:nvPr/>
        </p:nvSpPr>
        <p:spPr>
          <a:xfrm>
            <a:off x="1158983"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Competitive &amp; Clinical Intelligence Agent  |  rathi.dasgupta@gmail.com</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2.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3.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3.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5-1.png"/><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4.xml"/><Relationship Id="rId7"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0"/>
            <a:ext cx="7863840" cy="1737360"/>
          </a:xfrm>
          <a:prstGeom prst="rect">
            <a:avLst/>
          </a:prstGeom>
          <a:noFill/>
          <a:ln/>
        </p:spPr>
        <p:txBody>
          <a:bodyPr wrap="square" lIns="0" tIns="0" rIns="0" bIns="0" rtlCol="0" anchor="b"/>
          <a:lstStyle/>
          <a:p>
            <a:pPr algn="l" indent="0" marL="0">
              <a:buNone/>
            </a:pPr>
            <a:r>
              <a:rPr lang="en-US" sz="4000" b="1" dirty="0">
                <a:solidFill>
                  <a:schemeClr val="bg1"/>
                </a:solidFill>
              </a:rPr>
              <a:t>XData Competitive &amp; Clinical Intelligence Agent</a:t>
            </a:r>
            <a:endParaRPr lang="en-US" sz="4000" dirty="0"/>
          </a:p>
        </p:txBody>
      </p:sp>
      <p:sp>
        <p:nvSpPr>
          <p:cNvPr id="3" name="Text 0"/>
          <p:cNvSpPr/>
          <p:nvPr>
            <p:ph idx="101" type="body" hasCustomPrompt="1"/>
          </p:nvPr>
        </p:nvSpPr>
        <p:spPr>
          <a:xfrm>
            <a:off x="548640" y="3749040"/>
            <a:ext cx="7498080" cy="1280160"/>
          </a:xfrm>
          <a:prstGeom prst="rect">
            <a:avLst/>
          </a:prstGeom>
          <a:noFill/>
          <a:ln/>
        </p:spPr>
        <p:txBody>
          <a:bodyPr wrap="square" lIns="0" tIns="0" rIns="0" bIns="0" rtlCol="0" anchor="t"/>
          <a:lstStyle/>
          <a:p>
            <a:pPr indent="0" marL="0">
              <a:buNone/>
            </a:pPr>
            <a:r>
              <a:rPr lang="en-US" sz="1800" dirty="0">
                <a:solidFill>
                  <a:schemeClr val="accent3"/>
                </a:solidFill>
              </a:rPr>
              <a:t>Know what changed, whether it matters to your drug, and the evidence behind every fact</a:t>
            </a:r>
            <a:endParaRPr lang="en-US" sz="1800" dirty="0"/>
          </a:p>
        </p:txBody>
      </p:sp>
      <p:sp>
        <p:nvSpPr>
          <p:cNvPr id="4" name="logo tile"/>
          <p:cNvSpPr/>
          <p:nvPr/>
        </p:nvSpPr>
        <p:spPr>
          <a:xfrm>
            <a:off x="548640" y="411480"/>
            <a:ext cx="1234440" cy="1234440"/>
          </a:xfrm>
          <a:prstGeom prst="roundRect">
            <a:avLst>
              <a:gd name="adj" fmla="val 8889"/>
            </a:avLst>
          </a:prstGeom>
          <a:solidFill>
            <a:schemeClr val="bg1"/>
          </a:solidFill>
          <a:ln/>
        </p:spPr>
      </p:sp>
      <p:pic>
        <p:nvPicPr>
          <p:cNvPr id="5" name="XData logo" descr="/tmp/claude-0/-home-user-XData-Competitive-Clinical-Intelligence-Agent/f00f93d4-903b-5466-82ee-3a1d8c1c9082/scratchpad/xdata-official-logo.png">    </p:cNvPr>
          <p:cNvPicPr>
            <a:picLocks noChangeAspect="1"/>
          </p:cNvPicPr>
          <p:nvPr/>
        </p:nvPicPr>
        <p:blipFill>
          <a:blip r:embed="rId1"/>
          <a:stretch>
            <a:fillRect/>
          </a:stretch>
        </p:blipFill>
        <p:spPr>
          <a:xfrm>
            <a:off x="689145" y="559613"/>
            <a:ext cx="953429" cy="938174"/>
          </a:xfrm>
          <a:prstGeom prst="rect">
            <a:avLst/>
          </a:prstGeom>
        </p:spPr>
      </p:pic>
      <p:sp>
        <p:nvSpPr>
          <p:cNvPr id="6" name="promise 1 badge"/>
          <p:cNvSpPr/>
          <p:nvPr/>
        </p:nvSpPr>
        <p:spPr>
          <a:xfrm>
            <a:off x="8915400" y="1965960"/>
            <a:ext cx="731520" cy="731520"/>
          </a:xfrm>
          <a:prstGeom prst="ellipse">
            <a:avLst/>
          </a:prstGeom>
          <a:solidFill>
            <a:schemeClr val="accent1"/>
          </a:solidFill>
          <a:ln/>
        </p:spPr>
      </p:sp>
      <p:pic>
        <p:nvPicPr>
          <p:cNvPr id="7" name="promise 1 icon" descr="preencoded.png">    </p:cNvPr>
          <p:cNvPicPr>
            <a:picLocks noChangeAspect="1"/>
          </p:cNvPicPr>
          <p:nvPr/>
        </p:nvPicPr>
        <p:blipFill>
          <a:blip r:embed="rId2"/>
          <a:stretch>
            <a:fillRect/>
          </a:stretch>
        </p:blipFill>
        <p:spPr>
          <a:xfrm>
            <a:off x="9090965" y="2141525"/>
            <a:ext cx="380390" cy="380390"/>
          </a:xfrm>
          <a:prstGeom prst="rect">
            <a:avLst/>
          </a:prstGeom>
        </p:spPr>
      </p:pic>
      <p:sp>
        <p:nvSpPr>
          <p:cNvPr id="8" name="Text 4"/>
          <p:cNvSpPr txBox="1"/>
          <p:nvPr/>
        </p:nvSpPr>
        <p:spPr>
          <a:xfrm>
            <a:off x="9829800" y="2075688"/>
            <a:ext cx="1920240" cy="548640"/>
          </a:xfrm>
          <a:prstGeom prst="rect">
            <a:avLst/>
          </a:prstGeom>
          <a:noFill/>
          <a:ln/>
        </p:spPr>
        <p:txBody>
          <a:bodyPr wrap="square" lIns="0" tIns="0" rIns="0" bIns="0" rtlCol="0" anchor="ctr"/>
          <a:lstStyle/>
          <a:p>
            <a:pPr indent="0" marL="0">
              <a:buNone/>
            </a:pPr>
            <a:r>
              <a:rPr lang="en-US" sz="1500" b="1" dirty="0">
                <a:solidFill>
                  <a:schemeClr val="bg1"/>
                </a:solidFill>
              </a:rPr>
              <a:t>Monitors live sources</a:t>
            </a:r>
            <a:endParaRPr lang="en-US" sz="1500" dirty="0"/>
          </a:p>
        </p:txBody>
      </p:sp>
      <p:sp>
        <p:nvSpPr>
          <p:cNvPr id="9" name="promise 2 badge"/>
          <p:cNvSpPr/>
          <p:nvPr/>
        </p:nvSpPr>
        <p:spPr>
          <a:xfrm>
            <a:off x="8915400" y="3017520"/>
            <a:ext cx="731520" cy="731520"/>
          </a:xfrm>
          <a:prstGeom prst="ellipse">
            <a:avLst/>
          </a:prstGeom>
          <a:solidFill>
            <a:schemeClr val="accent1"/>
          </a:solidFill>
          <a:ln/>
        </p:spPr>
      </p:sp>
      <p:pic>
        <p:nvPicPr>
          <p:cNvPr id="10" name="promise 2 icon" descr="preencoded.png">    </p:cNvPr>
          <p:cNvPicPr>
            <a:picLocks noChangeAspect="1"/>
          </p:cNvPicPr>
          <p:nvPr/>
        </p:nvPicPr>
        <p:blipFill>
          <a:blip r:embed="rId3"/>
          <a:stretch>
            <a:fillRect/>
          </a:stretch>
        </p:blipFill>
        <p:spPr>
          <a:xfrm>
            <a:off x="9090965" y="3193085"/>
            <a:ext cx="380390" cy="380390"/>
          </a:xfrm>
          <a:prstGeom prst="rect">
            <a:avLst/>
          </a:prstGeom>
        </p:spPr>
      </p:pic>
      <p:sp>
        <p:nvSpPr>
          <p:cNvPr id="11" name="Text 6"/>
          <p:cNvSpPr txBox="1"/>
          <p:nvPr/>
        </p:nvSpPr>
        <p:spPr>
          <a:xfrm>
            <a:off x="9829800" y="3127248"/>
            <a:ext cx="1920240" cy="548640"/>
          </a:xfrm>
          <a:prstGeom prst="rect">
            <a:avLst/>
          </a:prstGeom>
          <a:noFill/>
          <a:ln/>
        </p:spPr>
        <p:txBody>
          <a:bodyPr wrap="square" lIns="0" tIns="0" rIns="0" bIns="0" rtlCol="0" anchor="ctr"/>
          <a:lstStyle/>
          <a:p>
            <a:pPr indent="0" marL="0">
              <a:buNone/>
            </a:pPr>
            <a:r>
              <a:rPr lang="en-US" sz="1500" b="1" dirty="0">
                <a:solidFill>
                  <a:schemeClr val="bg1"/>
                </a:solidFill>
              </a:rPr>
              <a:t>Scores impact on your drugs</a:t>
            </a:r>
            <a:endParaRPr lang="en-US" sz="1500" dirty="0"/>
          </a:p>
        </p:txBody>
      </p:sp>
      <p:sp>
        <p:nvSpPr>
          <p:cNvPr id="12" name="promise 3 badge"/>
          <p:cNvSpPr/>
          <p:nvPr/>
        </p:nvSpPr>
        <p:spPr>
          <a:xfrm>
            <a:off x="8915400" y="4069080"/>
            <a:ext cx="731520" cy="731520"/>
          </a:xfrm>
          <a:prstGeom prst="ellipse">
            <a:avLst/>
          </a:prstGeom>
          <a:solidFill>
            <a:schemeClr val="accent1"/>
          </a:solidFill>
          <a:ln/>
        </p:spPr>
      </p:sp>
      <p:pic>
        <p:nvPicPr>
          <p:cNvPr id="13" name="promise 3 icon" descr="preencoded.png">    </p:cNvPr>
          <p:cNvPicPr>
            <a:picLocks noChangeAspect="1"/>
          </p:cNvPicPr>
          <p:nvPr/>
        </p:nvPicPr>
        <p:blipFill>
          <a:blip r:embed="rId4"/>
          <a:stretch>
            <a:fillRect/>
          </a:stretch>
        </p:blipFill>
        <p:spPr>
          <a:xfrm>
            <a:off x="9090965" y="4244645"/>
            <a:ext cx="380390" cy="380390"/>
          </a:xfrm>
          <a:prstGeom prst="rect">
            <a:avLst/>
          </a:prstGeom>
        </p:spPr>
      </p:pic>
      <p:sp>
        <p:nvSpPr>
          <p:cNvPr id="14" name="Text 8"/>
          <p:cNvSpPr txBox="1"/>
          <p:nvPr/>
        </p:nvSpPr>
        <p:spPr>
          <a:xfrm>
            <a:off x="9829800" y="4178808"/>
            <a:ext cx="1920240" cy="548640"/>
          </a:xfrm>
          <a:prstGeom prst="rect">
            <a:avLst/>
          </a:prstGeom>
          <a:noFill/>
          <a:ln/>
        </p:spPr>
        <p:txBody>
          <a:bodyPr wrap="square" lIns="0" tIns="0" rIns="0" bIns="0" rtlCol="0" anchor="ctr"/>
          <a:lstStyle/>
          <a:p>
            <a:pPr indent="0" marL="0">
              <a:buNone/>
            </a:pPr>
            <a:r>
              <a:rPr lang="en-US" sz="1500" b="1" dirty="0">
                <a:solidFill>
                  <a:schemeClr val="bg1"/>
                </a:solidFill>
              </a:rPr>
              <a:t>Shows the evidence</a:t>
            </a:r>
            <a:endParaRPr lang="en-US" sz="1500" dirty="0"/>
          </a:p>
        </p:txBody>
      </p:sp>
      <p:pic>
        <p:nvPicPr>
          <p:cNvPr id="15" name="email icon" descr="preencoded.png">    </p:cNvPr>
          <p:cNvPicPr>
            <a:picLocks noChangeAspect="1"/>
          </p:cNvPicPr>
          <p:nvPr/>
        </p:nvPicPr>
        <p:blipFill>
          <a:blip r:embed="rId5"/>
          <a:stretch>
            <a:fillRect/>
          </a:stretch>
        </p:blipFill>
        <p:spPr>
          <a:xfrm>
            <a:off x="548640" y="5870448"/>
            <a:ext cx="274320" cy="274320"/>
          </a:xfrm>
          <a:prstGeom prst="rect">
            <a:avLst/>
          </a:prstGeom>
        </p:spPr>
      </p:pic>
      <p:sp>
        <p:nvSpPr>
          <p:cNvPr id="16" name="Text 9"/>
          <p:cNvSpPr txBox="1"/>
          <p:nvPr/>
        </p:nvSpPr>
        <p:spPr>
          <a:xfrm>
            <a:off x="960120" y="5833872"/>
            <a:ext cx="5486400" cy="365760"/>
          </a:xfrm>
          <a:prstGeom prst="rect">
            <a:avLst/>
          </a:prstGeom>
          <a:noFill/>
          <a:ln/>
        </p:spPr>
        <p:txBody>
          <a:bodyPr wrap="square" lIns="0" tIns="0" rIns="0" bIns="0" rtlCol="0" anchor="ctr"/>
          <a:lstStyle/>
          <a:p>
            <a:pPr indent="0" marL="0">
              <a:buNone/>
            </a:pPr>
            <a:r>
              <a:rPr lang="en-US" sz="1600" dirty="0">
                <a:solidFill>
                  <a:schemeClr val="bg1"/>
                </a:solidFill>
              </a:rPr>
              <a:t>rathi.dasgupta@gmail.com</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Competitive intelligence teams are buried in source updates</a:t>
            </a:r>
            <a:endParaRPr lang="en-US" sz="3200" dirty="0"/>
          </a:p>
        </p:txBody>
      </p:sp>
      <p:sp>
        <p:nvSpPr>
          <p:cNvPr id="3" name="problem 1 card"/>
          <p:cNvSpPr/>
          <p:nvPr/>
        </p:nvSpPr>
        <p:spPr>
          <a:xfrm>
            <a:off x="548640" y="1554480"/>
            <a:ext cx="5349240" cy="1874520"/>
          </a:xfrm>
          <a:prstGeom prst="roundRect">
            <a:avLst>
              <a:gd name="adj" fmla="val 5854"/>
            </a:avLst>
          </a:prstGeom>
          <a:solidFill>
            <a:schemeClr val="bg2"/>
          </a:solidFill>
          <a:ln/>
        </p:spPr>
      </p:sp>
      <p:sp>
        <p:nvSpPr>
          <p:cNvPr id="4" name="problem 1 badge"/>
          <p:cNvSpPr/>
          <p:nvPr/>
        </p:nvSpPr>
        <p:spPr>
          <a:xfrm>
            <a:off x="868680" y="1920240"/>
            <a:ext cx="685800" cy="685800"/>
          </a:xfrm>
          <a:prstGeom prst="ellipse">
            <a:avLst/>
          </a:prstGeom>
          <a:solidFill>
            <a:schemeClr val="accent1"/>
          </a:solidFill>
          <a:ln/>
        </p:spPr>
      </p:sp>
      <p:pic>
        <p:nvPicPr>
          <p:cNvPr id="5" name="problem 1 icon" descr="preencoded.png">    </p:cNvPr>
          <p:cNvPicPr>
            <a:picLocks noChangeAspect="1"/>
          </p:cNvPicPr>
          <p:nvPr/>
        </p:nvPicPr>
        <p:blipFill>
          <a:blip r:embed="rId1"/>
          <a:stretch>
            <a:fillRect/>
          </a:stretch>
        </p:blipFill>
        <p:spPr>
          <a:xfrm>
            <a:off x="1033272" y="2084832"/>
            <a:ext cx="356616" cy="356616"/>
          </a:xfrm>
          <a:prstGeom prst="rect">
            <a:avLst/>
          </a:prstGeom>
        </p:spPr>
      </p:pic>
      <p:sp>
        <p:nvSpPr>
          <p:cNvPr id="6" name="Text 3"/>
          <p:cNvSpPr txBox="1"/>
          <p:nvPr/>
        </p:nvSpPr>
        <p:spPr>
          <a:xfrm>
            <a:off x="1783080" y="1901952"/>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Too much to watch</a:t>
            </a:r>
            <a:endParaRPr lang="en-US" sz="2000" dirty="0"/>
          </a:p>
        </p:txBody>
      </p:sp>
      <p:sp>
        <p:nvSpPr>
          <p:cNvPr id="7" name="Text 4"/>
          <p:cNvSpPr txBox="1"/>
          <p:nvPr/>
        </p:nvSpPr>
        <p:spPr>
          <a:xfrm>
            <a:off x="1783080" y="2423160"/>
            <a:ext cx="3840480" cy="1005840"/>
          </a:xfrm>
          <a:prstGeom prst="rect">
            <a:avLst/>
          </a:prstGeom>
          <a:noFill/>
          <a:ln/>
        </p:spPr>
        <p:txBody>
          <a:bodyPr wrap="square" lIns="0" tIns="0" rIns="0" bIns="0" rtlCol="0" anchor="t"/>
          <a:lstStyle/>
          <a:p>
            <a:pPr indent="0" marL="0">
              <a:buNone/>
            </a:pPr>
            <a:r>
              <a:rPr lang="en-US" sz="1500" dirty="0">
                <a:solidFill>
                  <a:schemeClr val="tx1"/>
                </a:solidFill>
              </a:rPr>
              <a:t>Thousands of trial records, papers, labels and filings change every week across separate sites.</a:t>
            </a:r>
            <a:endParaRPr lang="en-US" sz="1500" dirty="0"/>
          </a:p>
        </p:txBody>
      </p:sp>
      <p:sp>
        <p:nvSpPr>
          <p:cNvPr id="8" name="problem 2 card"/>
          <p:cNvSpPr/>
          <p:nvPr/>
        </p:nvSpPr>
        <p:spPr>
          <a:xfrm>
            <a:off x="6172200" y="1554480"/>
            <a:ext cx="5349240" cy="1874520"/>
          </a:xfrm>
          <a:prstGeom prst="roundRect">
            <a:avLst>
              <a:gd name="adj" fmla="val 5854"/>
            </a:avLst>
          </a:prstGeom>
          <a:solidFill>
            <a:schemeClr val="bg2"/>
          </a:solidFill>
          <a:ln/>
        </p:spPr>
      </p:sp>
      <p:sp>
        <p:nvSpPr>
          <p:cNvPr id="9" name="problem 2 badge"/>
          <p:cNvSpPr/>
          <p:nvPr/>
        </p:nvSpPr>
        <p:spPr>
          <a:xfrm>
            <a:off x="6492240" y="1920240"/>
            <a:ext cx="685800" cy="685800"/>
          </a:xfrm>
          <a:prstGeom prst="ellipse">
            <a:avLst/>
          </a:prstGeom>
          <a:solidFill>
            <a:schemeClr val="accent1"/>
          </a:solidFill>
          <a:ln/>
        </p:spPr>
      </p:sp>
      <p:pic>
        <p:nvPicPr>
          <p:cNvPr id="10" name="problem 2 icon" descr="preencoded.png">    </p:cNvPr>
          <p:cNvPicPr>
            <a:picLocks noChangeAspect="1"/>
          </p:cNvPicPr>
          <p:nvPr/>
        </p:nvPicPr>
        <p:blipFill>
          <a:blip r:embed="rId2"/>
          <a:stretch>
            <a:fillRect/>
          </a:stretch>
        </p:blipFill>
        <p:spPr>
          <a:xfrm>
            <a:off x="6656832" y="2084832"/>
            <a:ext cx="356616" cy="356616"/>
          </a:xfrm>
          <a:prstGeom prst="rect">
            <a:avLst/>
          </a:prstGeom>
        </p:spPr>
      </p:pic>
      <p:sp>
        <p:nvSpPr>
          <p:cNvPr id="11" name="Text 7"/>
          <p:cNvSpPr txBox="1"/>
          <p:nvPr/>
        </p:nvSpPr>
        <p:spPr>
          <a:xfrm>
            <a:off x="7406640" y="1901952"/>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Signal hides in the noise</a:t>
            </a:r>
            <a:endParaRPr lang="en-US" sz="2000" dirty="0"/>
          </a:p>
        </p:txBody>
      </p:sp>
      <p:sp>
        <p:nvSpPr>
          <p:cNvPr id="12" name="Text 8"/>
          <p:cNvSpPr txBox="1"/>
          <p:nvPr/>
        </p:nvSpPr>
        <p:spPr>
          <a:xfrm>
            <a:off x="7406640" y="2423160"/>
            <a:ext cx="3840480" cy="1005840"/>
          </a:xfrm>
          <a:prstGeom prst="rect">
            <a:avLst/>
          </a:prstGeom>
          <a:noFill/>
          <a:ln/>
        </p:spPr>
        <p:txBody>
          <a:bodyPr wrap="square" lIns="0" tIns="0" rIns="0" bIns="0" rtlCol="0" anchor="t"/>
          <a:lstStyle/>
          <a:p>
            <a:pPr indent="0" marL="0">
              <a:buNone/>
            </a:pPr>
            <a:r>
              <a:rPr lang="en-US" sz="1500" dirty="0">
                <a:solidFill>
                  <a:schemeClr val="tx1"/>
                </a:solidFill>
              </a:rPr>
              <a:t>A changed primary endpoint looks the same as a typo fix until someone reads both versions.</a:t>
            </a:r>
            <a:endParaRPr lang="en-US" sz="1500" dirty="0"/>
          </a:p>
        </p:txBody>
      </p:sp>
      <p:sp>
        <p:nvSpPr>
          <p:cNvPr id="13" name="problem 3 card"/>
          <p:cNvSpPr/>
          <p:nvPr/>
        </p:nvSpPr>
        <p:spPr>
          <a:xfrm>
            <a:off x="548640" y="3794760"/>
            <a:ext cx="5349240" cy="1874520"/>
          </a:xfrm>
          <a:prstGeom prst="roundRect">
            <a:avLst>
              <a:gd name="adj" fmla="val 5854"/>
            </a:avLst>
          </a:prstGeom>
          <a:solidFill>
            <a:schemeClr val="bg2"/>
          </a:solidFill>
          <a:ln/>
        </p:spPr>
      </p:sp>
      <p:sp>
        <p:nvSpPr>
          <p:cNvPr id="14" name="problem 3 badge"/>
          <p:cNvSpPr/>
          <p:nvPr/>
        </p:nvSpPr>
        <p:spPr>
          <a:xfrm>
            <a:off x="868680" y="4160520"/>
            <a:ext cx="685800" cy="685800"/>
          </a:xfrm>
          <a:prstGeom prst="ellipse">
            <a:avLst/>
          </a:prstGeom>
          <a:solidFill>
            <a:schemeClr val="accent1"/>
          </a:solidFill>
          <a:ln/>
        </p:spPr>
      </p:sp>
      <p:pic>
        <p:nvPicPr>
          <p:cNvPr id="15" name="problem 3 icon" descr="preencoded.png">    </p:cNvPr>
          <p:cNvPicPr>
            <a:picLocks noChangeAspect="1"/>
          </p:cNvPicPr>
          <p:nvPr/>
        </p:nvPicPr>
        <p:blipFill>
          <a:blip r:embed="rId3"/>
          <a:stretch>
            <a:fillRect/>
          </a:stretch>
        </p:blipFill>
        <p:spPr>
          <a:xfrm>
            <a:off x="1033272" y="4325112"/>
            <a:ext cx="356616" cy="356616"/>
          </a:xfrm>
          <a:prstGeom prst="rect">
            <a:avLst/>
          </a:prstGeom>
        </p:spPr>
      </p:pic>
      <p:sp>
        <p:nvSpPr>
          <p:cNvPr id="16" name="Text 11"/>
          <p:cNvSpPr txBox="1"/>
          <p:nvPr/>
        </p:nvSpPr>
        <p:spPr>
          <a:xfrm>
            <a:off x="1783080" y="4142232"/>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Slow to reach leadership</a:t>
            </a:r>
            <a:endParaRPr lang="en-US" sz="2000" dirty="0"/>
          </a:p>
        </p:txBody>
      </p:sp>
      <p:sp>
        <p:nvSpPr>
          <p:cNvPr id="17" name="Text 12"/>
          <p:cNvSpPr txBox="1"/>
          <p:nvPr/>
        </p:nvSpPr>
        <p:spPr>
          <a:xfrm>
            <a:off x="1783080" y="4663440"/>
            <a:ext cx="3840480" cy="1005840"/>
          </a:xfrm>
          <a:prstGeom prst="rect">
            <a:avLst/>
          </a:prstGeom>
          <a:noFill/>
          <a:ln/>
        </p:spPr>
        <p:txBody>
          <a:bodyPr wrap="square" lIns="0" tIns="0" rIns="0" bIns="0" rtlCol="0" anchor="t"/>
          <a:lstStyle/>
          <a:p>
            <a:pPr indent="0" marL="0">
              <a:buNone/>
            </a:pPr>
            <a:r>
              <a:rPr lang="en-US" sz="1500" dirty="0">
                <a:solidFill>
                  <a:schemeClr val="tx1"/>
                </a:solidFill>
              </a:rPr>
              <a:t>Analysts spend days finding, checking and writing up a change before an executive hears about it.</a:t>
            </a:r>
            <a:endParaRPr lang="en-US" sz="1500" dirty="0"/>
          </a:p>
        </p:txBody>
      </p:sp>
      <p:sp>
        <p:nvSpPr>
          <p:cNvPr id="18" name="problem 4 card"/>
          <p:cNvSpPr/>
          <p:nvPr/>
        </p:nvSpPr>
        <p:spPr>
          <a:xfrm>
            <a:off x="6172200" y="3794760"/>
            <a:ext cx="5349240" cy="1874520"/>
          </a:xfrm>
          <a:prstGeom prst="roundRect">
            <a:avLst>
              <a:gd name="adj" fmla="val 5854"/>
            </a:avLst>
          </a:prstGeom>
          <a:solidFill>
            <a:schemeClr val="bg2"/>
          </a:solidFill>
          <a:ln/>
        </p:spPr>
      </p:sp>
      <p:sp>
        <p:nvSpPr>
          <p:cNvPr id="19" name="problem 4 badge"/>
          <p:cNvSpPr/>
          <p:nvPr/>
        </p:nvSpPr>
        <p:spPr>
          <a:xfrm>
            <a:off x="6492240" y="4160520"/>
            <a:ext cx="685800" cy="685800"/>
          </a:xfrm>
          <a:prstGeom prst="ellipse">
            <a:avLst/>
          </a:prstGeom>
          <a:solidFill>
            <a:schemeClr val="accent2"/>
          </a:solidFill>
          <a:ln/>
        </p:spPr>
      </p:sp>
      <p:pic>
        <p:nvPicPr>
          <p:cNvPr id="20" name="problem 4 icon" descr="preencoded.png">    </p:cNvPr>
          <p:cNvPicPr>
            <a:picLocks noChangeAspect="1"/>
          </p:cNvPicPr>
          <p:nvPr/>
        </p:nvPicPr>
        <p:blipFill>
          <a:blip r:embed="rId4"/>
          <a:stretch>
            <a:fillRect/>
          </a:stretch>
        </p:blipFill>
        <p:spPr>
          <a:xfrm>
            <a:off x="6656832" y="4325112"/>
            <a:ext cx="356616" cy="356616"/>
          </a:xfrm>
          <a:prstGeom prst="rect">
            <a:avLst/>
          </a:prstGeom>
        </p:spPr>
      </p:pic>
      <p:sp>
        <p:nvSpPr>
          <p:cNvPr id="21" name="Text 15"/>
          <p:cNvSpPr txBox="1"/>
          <p:nvPr/>
        </p:nvSpPr>
        <p:spPr>
          <a:xfrm>
            <a:off x="7406640" y="4142232"/>
            <a:ext cx="3840480" cy="411480"/>
          </a:xfrm>
          <a:prstGeom prst="rect">
            <a:avLst/>
          </a:prstGeom>
          <a:noFill/>
          <a:ln/>
        </p:spPr>
        <p:txBody>
          <a:bodyPr wrap="square" lIns="0" tIns="0" rIns="0" bIns="0" rtlCol="0" anchor="t"/>
          <a:lstStyle/>
          <a:p>
            <a:pPr indent="0" marL="0">
              <a:buNone/>
            </a:pPr>
            <a:r>
              <a:rPr lang="en-US" sz="2000" b="1" dirty="0">
                <a:solidFill>
                  <a:schemeClr val="tx2"/>
                </a:solidFill>
                <a:latin typeface="Cambria" pitchFamily="34" charset="0"/>
                <a:ea typeface="Cambria" pitchFamily="34" charset="-122"/>
                <a:cs typeface="Cambria" pitchFamily="34" charset="-120"/>
              </a:rPr>
              <a:t>AI answers you can't trust</a:t>
            </a:r>
            <a:endParaRPr lang="en-US" sz="2000" dirty="0"/>
          </a:p>
        </p:txBody>
      </p:sp>
      <p:sp>
        <p:nvSpPr>
          <p:cNvPr id="22" name="Text 16"/>
          <p:cNvSpPr txBox="1"/>
          <p:nvPr/>
        </p:nvSpPr>
        <p:spPr>
          <a:xfrm>
            <a:off x="7406640" y="4663440"/>
            <a:ext cx="3840480" cy="1005840"/>
          </a:xfrm>
          <a:prstGeom prst="rect">
            <a:avLst/>
          </a:prstGeom>
          <a:noFill/>
          <a:ln/>
        </p:spPr>
        <p:txBody>
          <a:bodyPr wrap="square" lIns="0" tIns="0" rIns="0" bIns="0" rtlCol="0" anchor="t"/>
          <a:lstStyle/>
          <a:p>
            <a:pPr indent="0" marL="0">
              <a:buNone/>
            </a:pPr>
            <a:r>
              <a:rPr lang="en-US" sz="1500" dirty="0">
                <a:solidFill>
                  <a:schemeClr val="tx1"/>
                </a:solidFill>
              </a:rPr>
              <a:t>Generic chatbots mix facts with guesses and rarely show where a claim came from.</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How it works: from a source update to a decision-ready alert</a:t>
            </a:r>
            <a:endParaRPr lang="en-US" sz="3200" dirty="0"/>
          </a:p>
        </p:txBody>
      </p:sp>
      <p:sp>
        <p:nvSpPr>
          <p:cNvPr id="3" name="step 1 card"/>
          <p:cNvSpPr/>
          <p:nvPr/>
        </p:nvSpPr>
        <p:spPr>
          <a:xfrm>
            <a:off x="548640" y="1600200"/>
            <a:ext cx="1658569" cy="3611880"/>
          </a:xfrm>
          <a:prstGeom prst="roundRect">
            <a:avLst>
              <a:gd name="adj" fmla="val 6616"/>
            </a:avLst>
          </a:prstGeom>
          <a:solidFill>
            <a:schemeClr val="bg2"/>
          </a:solidFill>
          <a:ln/>
        </p:spPr>
      </p:sp>
      <p:sp>
        <p:nvSpPr>
          <p:cNvPr id="4" name="step 1 badge"/>
          <p:cNvSpPr/>
          <p:nvPr/>
        </p:nvSpPr>
        <p:spPr>
          <a:xfrm>
            <a:off x="989305" y="1874520"/>
            <a:ext cx="777240" cy="777240"/>
          </a:xfrm>
          <a:prstGeom prst="ellipse">
            <a:avLst/>
          </a:prstGeom>
          <a:solidFill>
            <a:schemeClr val="accent1"/>
          </a:solidFill>
          <a:ln/>
        </p:spPr>
      </p:sp>
      <p:pic>
        <p:nvPicPr>
          <p:cNvPr id="5" name="step 1 icon" descr="preencoded.png">    </p:cNvPr>
          <p:cNvPicPr>
            <a:picLocks noChangeAspect="1"/>
          </p:cNvPicPr>
          <p:nvPr/>
        </p:nvPicPr>
        <p:blipFill>
          <a:blip r:embed="rId1"/>
          <a:stretch>
            <a:fillRect/>
          </a:stretch>
        </p:blipFill>
        <p:spPr>
          <a:xfrm>
            <a:off x="1175842" y="2061058"/>
            <a:ext cx="404165" cy="404165"/>
          </a:xfrm>
          <a:prstGeom prst="rect">
            <a:avLst/>
          </a:prstGeom>
        </p:spPr>
      </p:pic>
      <p:sp>
        <p:nvSpPr>
          <p:cNvPr id="6" name="Text 3"/>
          <p:cNvSpPr txBox="1"/>
          <p:nvPr/>
        </p:nvSpPr>
        <p:spPr>
          <a:xfrm>
            <a:off x="685800"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1. Monitor</a:t>
            </a:r>
            <a:endParaRPr lang="en-US" sz="1800" dirty="0"/>
          </a:p>
        </p:txBody>
      </p:sp>
      <p:sp>
        <p:nvSpPr>
          <p:cNvPr id="7" name="Text 4"/>
          <p:cNvSpPr txBox="1"/>
          <p:nvPr/>
        </p:nvSpPr>
        <p:spPr>
          <a:xfrm>
            <a:off x="731520"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ClinicalTrials.gov, PubMed, FDA labels and approvals, SEC filings, company news</a:t>
            </a:r>
            <a:endParaRPr lang="en-US" sz="1400" dirty="0"/>
          </a:p>
        </p:txBody>
      </p:sp>
      <p:sp>
        <p:nvSpPr>
          <p:cNvPr id="8" name="arrow 1"/>
          <p:cNvSpPr/>
          <p:nvPr/>
        </p:nvSpPr>
        <p:spPr>
          <a:xfrm>
            <a:off x="2252929" y="2130552"/>
            <a:ext cx="137160" cy="274320"/>
          </a:xfrm>
          <a:prstGeom prst="chevron">
            <a:avLst/>
          </a:prstGeom>
          <a:solidFill>
            <a:schemeClr val="accent3"/>
          </a:solidFill>
          <a:ln/>
        </p:spPr>
      </p:sp>
      <p:sp>
        <p:nvSpPr>
          <p:cNvPr id="9" name="step 2 card"/>
          <p:cNvSpPr/>
          <p:nvPr/>
        </p:nvSpPr>
        <p:spPr>
          <a:xfrm>
            <a:off x="2435809" y="1600200"/>
            <a:ext cx="1658569" cy="3611880"/>
          </a:xfrm>
          <a:prstGeom prst="roundRect">
            <a:avLst>
              <a:gd name="adj" fmla="val 6616"/>
            </a:avLst>
          </a:prstGeom>
          <a:solidFill>
            <a:schemeClr val="bg2"/>
          </a:solidFill>
          <a:ln/>
        </p:spPr>
      </p:sp>
      <p:sp>
        <p:nvSpPr>
          <p:cNvPr id="10" name="step 2 badge"/>
          <p:cNvSpPr/>
          <p:nvPr/>
        </p:nvSpPr>
        <p:spPr>
          <a:xfrm>
            <a:off x="2876474" y="1874520"/>
            <a:ext cx="777240" cy="777240"/>
          </a:xfrm>
          <a:prstGeom prst="ellipse">
            <a:avLst/>
          </a:prstGeom>
          <a:solidFill>
            <a:schemeClr val="accent1"/>
          </a:solidFill>
          <a:ln/>
        </p:spPr>
      </p:sp>
      <p:pic>
        <p:nvPicPr>
          <p:cNvPr id="11" name="step 2 icon" descr="preencoded.png">    </p:cNvPr>
          <p:cNvPicPr>
            <a:picLocks noChangeAspect="1"/>
          </p:cNvPicPr>
          <p:nvPr/>
        </p:nvPicPr>
        <p:blipFill>
          <a:blip r:embed="rId2"/>
          <a:stretch>
            <a:fillRect/>
          </a:stretch>
        </p:blipFill>
        <p:spPr>
          <a:xfrm>
            <a:off x="3063011" y="2061058"/>
            <a:ext cx="404165" cy="404165"/>
          </a:xfrm>
          <a:prstGeom prst="rect">
            <a:avLst/>
          </a:prstGeom>
        </p:spPr>
      </p:pic>
      <p:sp>
        <p:nvSpPr>
          <p:cNvPr id="12" name="Text 8"/>
          <p:cNvSpPr txBox="1"/>
          <p:nvPr/>
        </p:nvSpPr>
        <p:spPr>
          <a:xfrm>
            <a:off x="2572969"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2. Detect</a:t>
            </a:r>
            <a:endParaRPr lang="en-US" sz="1800" dirty="0"/>
          </a:p>
        </p:txBody>
      </p:sp>
      <p:sp>
        <p:nvSpPr>
          <p:cNvPr id="13" name="Text 9"/>
          <p:cNvSpPr txBox="1"/>
          <p:nvPr/>
        </p:nvSpPr>
        <p:spPr>
          <a:xfrm>
            <a:off x="2618689"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Compares versions field by field; ignores formatting-only edits</a:t>
            </a:r>
            <a:endParaRPr lang="en-US" sz="1400" dirty="0"/>
          </a:p>
        </p:txBody>
      </p:sp>
      <p:sp>
        <p:nvSpPr>
          <p:cNvPr id="14" name="arrow 2"/>
          <p:cNvSpPr/>
          <p:nvPr/>
        </p:nvSpPr>
        <p:spPr>
          <a:xfrm>
            <a:off x="4140098" y="2130552"/>
            <a:ext cx="137160" cy="274320"/>
          </a:xfrm>
          <a:prstGeom prst="chevron">
            <a:avLst/>
          </a:prstGeom>
          <a:solidFill>
            <a:schemeClr val="accent3"/>
          </a:solidFill>
          <a:ln/>
        </p:spPr>
      </p:sp>
      <p:sp>
        <p:nvSpPr>
          <p:cNvPr id="15" name="step 3 card"/>
          <p:cNvSpPr/>
          <p:nvPr/>
        </p:nvSpPr>
        <p:spPr>
          <a:xfrm>
            <a:off x="4322978" y="1600200"/>
            <a:ext cx="1658569" cy="3611880"/>
          </a:xfrm>
          <a:prstGeom prst="roundRect">
            <a:avLst>
              <a:gd name="adj" fmla="val 6616"/>
            </a:avLst>
          </a:prstGeom>
          <a:solidFill>
            <a:schemeClr val="bg2"/>
          </a:solidFill>
          <a:ln/>
        </p:spPr>
      </p:sp>
      <p:sp>
        <p:nvSpPr>
          <p:cNvPr id="16" name="step 3 badge"/>
          <p:cNvSpPr/>
          <p:nvPr/>
        </p:nvSpPr>
        <p:spPr>
          <a:xfrm>
            <a:off x="4763643" y="1874520"/>
            <a:ext cx="777240" cy="777240"/>
          </a:xfrm>
          <a:prstGeom prst="ellipse">
            <a:avLst/>
          </a:prstGeom>
          <a:solidFill>
            <a:schemeClr val="accent1"/>
          </a:solidFill>
          <a:ln/>
        </p:spPr>
      </p:sp>
      <p:pic>
        <p:nvPicPr>
          <p:cNvPr id="17" name="step 3 icon" descr="preencoded.png">    </p:cNvPr>
          <p:cNvPicPr>
            <a:picLocks noChangeAspect="1"/>
          </p:cNvPicPr>
          <p:nvPr/>
        </p:nvPicPr>
        <p:blipFill>
          <a:blip r:embed="rId3"/>
          <a:stretch>
            <a:fillRect/>
          </a:stretch>
        </p:blipFill>
        <p:spPr>
          <a:xfrm>
            <a:off x="4950181" y="2061058"/>
            <a:ext cx="404165" cy="404165"/>
          </a:xfrm>
          <a:prstGeom prst="rect">
            <a:avLst/>
          </a:prstGeom>
        </p:spPr>
      </p:pic>
      <p:sp>
        <p:nvSpPr>
          <p:cNvPr id="18" name="Text 13"/>
          <p:cNvSpPr txBox="1"/>
          <p:nvPr/>
        </p:nvSpPr>
        <p:spPr>
          <a:xfrm>
            <a:off x="4460138"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3. Map</a:t>
            </a:r>
            <a:endParaRPr lang="en-US" sz="1800" dirty="0"/>
          </a:p>
        </p:txBody>
      </p:sp>
      <p:sp>
        <p:nvSpPr>
          <p:cNvPr id="19" name="Text 14"/>
          <p:cNvSpPr txBox="1"/>
          <p:nvPr/>
        </p:nvSpPr>
        <p:spPr>
          <a:xfrm>
            <a:off x="4505858"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Links each change to your drugs by target, disease, line of therapy and biomarker</a:t>
            </a:r>
            <a:endParaRPr lang="en-US" sz="1400" dirty="0"/>
          </a:p>
        </p:txBody>
      </p:sp>
      <p:sp>
        <p:nvSpPr>
          <p:cNvPr id="20" name="arrow 3"/>
          <p:cNvSpPr/>
          <p:nvPr/>
        </p:nvSpPr>
        <p:spPr>
          <a:xfrm>
            <a:off x="6027268" y="2130552"/>
            <a:ext cx="137160" cy="274320"/>
          </a:xfrm>
          <a:prstGeom prst="chevron">
            <a:avLst/>
          </a:prstGeom>
          <a:solidFill>
            <a:schemeClr val="accent3"/>
          </a:solidFill>
          <a:ln/>
        </p:spPr>
      </p:sp>
      <p:sp>
        <p:nvSpPr>
          <p:cNvPr id="21" name="step 4 card"/>
          <p:cNvSpPr/>
          <p:nvPr/>
        </p:nvSpPr>
        <p:spPr>
          <a:xfrm>
            <a:off x="6210148" y="1600200"/>
            <a:ext cx="1658569" cy="3611880"/>
          </a:xfrm>
          <a:prstGeom prst="roundRect">
            <a:avLst>
              <a:gd name="adj" fmla="val 6616"/>
            </a:avLst>
          </a:prstGeom>
          <a:solidFill>
            <a:schemeClr val="bg2"/>
          </a:solidFill>
          <a:ln/>
        </p:spPr>
      </p:sp>
      <p:sp>
        <p:nvSpPr>
          <p:cNvPr id="22" name="step 4 badge"/>
          <p:cNvSpPr/>
          <p:nvPr/>
        </p:nvSpPr>
        <p:spPr>
          <a:xfrm>
            <a:off x="6650812" y="1874520"/>
            <a:ext cx="777240" cy="777240"/>
          </a:xfrm>
          <a:prstGeom prst="ellipse">
            <a:avLst/>
          </a:prstGeom>
          <a:solidFill>
            <a:schemeClr val="accent1"/>
          </a:solidFill>
          <a:ln/>
        </p:spPr>
      </p:sp>
      <p:pic>
        <p:nvPicPr>
          <p:cNvPr id="23" name="step 4 icon" descr="preencoded.png">    </p:cNvPr>
          <p:cNvPicPr>
            <a:picLocks noChangeAspect="1"/>
          </p:cNvPicPr>
          <p:nvPr/>
        </p:nvPicPr>
        <p:blipFill>
          <a:blip r:embed="rId4"/>
          <a:stretch>
            <a:fillRect/>
          </a:stretch>
        </p:blipFill>
        <p:spPr>
          <a:xfrm>
            <a:off x="6837350" y="2061058"/>
            <a:ext cx="404165" cy="404165"/>
          </a:xfrm>
          <a:prstGeom prst="rect">
            <a:avLst/>
          </a:prstGeom>
        </p:spPr>
      </p:pic>
      <p:sp>
        <p:nvSpPr>
          <p:cNvPr id="24" name="Text 18"/>
          <p:cNvSpPr txBox="1"/>
          <p:nvPr/>
        </p:nvSpPr>
        <p:spPr>
          <a:xfrm>
            <a:off x="6347308"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4. Score</a:t>
            </a:r>
            <a:endParaRPr lang="en-US" sz="1800" dirty="0"/>
          </a:p>
        </p:txBody>
      </p:sp>
      <p:sp>
        <p:nvSpPr>
          <p:cNvPr id="25" name="Text 19"/>
          <p:cNvSpPr txBox="1"/>
          <p:nvPr/>
        </p:nvSpPr>
        <p:spPr>
          <a:xfrm>
            <a:off x="6393028"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Importance score 0-100 from five explained factors</a:t>
            </a:r>
            <a:endParaRPr lang="en-US" sz="1400" dirty="0"/>
          </a:p>
        </p:txBody>
      </p:sp>
      <p:sp>
        <p:nvSpPr>
          <p:cNvPr id="26" name="arrow 4"/>
          <p:cNvSpPr/>
          <p:nvPr/>
        </p:nvSpPr>
        <p:spPr>
          <a:xfrm>
            <a:off x="7914437" y="2130552"/>
            <a:ext cx="137160" cy="274320"/>
          </a:xfrm>
          <a:prstGeom prst="chevron">
            <a:avLst/>
          </a:prstGeom>
          <a:solidFill>
            <a:schemeClr val="accent3"/>
          </a:solidFill>
          <a:ln/>
        </p:spPr>
      </p:sp>
      <p:sp>
        <p:nvSpPr>
          <p:cNvPr id="27" name="step 5 card"/>
          <p:cNvSpPr/>
          <p:nvPr/>
        </p:nvSpPr>
        <p:spPr>
          <a:xfrm>
            <a:off x="8097317" y="1600200"/>
            <a:ext cx="1658569" cy="3611880"/>
          </a:xfrm>
          <a:prstGeom prst="roundRect">
            <a:avLst>
              <a:gd name="adj" fmla="val 6616"/>
            </a:avLst>
          </a:prstGeom>
          <a:solidFill>
            <a:schemeClr val="bg2"/>
          </a:solidFill>
          <a:ln/>
        </p:spPr>
      </p:sp>
      <p:sp>
        <p:nvSpPr>
          <p:cNvPr id="28" name="step 5 badge"/>
          <p:cNvSpPr/>
          <p:nvPr/>
        </p:nvSpPr>
        <p:spPr>
          <a:xfrm>
            <a:off x="8537981" y="1874520"/>
            <a:ext cx="777240" cy="777240"/>
          </a:xfrm>
          <a:prstGeom prst="ellipse">
            <a:avLst/>
          </a:prstGeom>
          <a:solidFill>
            <a:schemeClr val="accent1"/>
          </a:solidFill>
          <a:ln/>
        </p:spPr>
      </p:sp>
      <p:pic>
        <p:nvPicPr>
          <p:cNvPr id="29" name="step 5 icon" descr="preencoded.png">    </p:cNvPr>
          <p:cNvPicPr>
            <a:picLocks noChangeAspect="1"/>
          </p:cNvPicPr>
          <p:nvPr/>
        </p:nvPicPr>
        <p:blipFill>
          <a:blip r:embed="rId5"/>
          <a:stretch>
            <a:fillRect/>
          </a:stretch>
        </p:blipFill>
        <p:spPr>
          <a:xfrm>
            <a:off x="8724519" y="2061058"/>
            <a:ext cx="404165" cy="404165"/>
          </a:xfrm>
          <a:prstGeom prst="rect">
            <a:avLst/>
          </a:prstGeom>
        </p:spPr>
      </p:pic>
      <p:sp>
        <p:nvSpPr>
          <p:cNvPr id="30" name="Text 23"/>
          <p:cNvSpPr txBox="1"/>
          <p:nvPr/>
        </p:nvSpPr>
        <p:spPr>
          <a:xfrm>
            <a:off x="8234477"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5. Explain</a:t>
            </a:r>
            <a:endParaRPr lang="en-US" sz="1800" dirty="0"/>
          </a:p>
        </p:txBody>
      </p:sp>
      <p:sp>
        <p:nvSpPr>
          <p:cNvPr id="31" name="Text 24"/>
          <p:cNvSpPr txBox="1"/>
          <p:nvPr/>
        </p:nvSpPr>
        <p:spPr>
          <a:xfrm>
            <a:off x="8280197"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Summary where every fact cites its source; guesses labelled as such</a:t>
            </a:r>
            <a:endParaRPr lang="en-US" sz="1400" dirty="0"/>
          </a:p>
        </p:txBody>
      </p:sp>
      <p:sp>
        <p:nvSpPr>
          <p:cNvPr id="32" name="arrow 5"/>
          <p:cNvSpPr/>
          <p:nvPr/>
        </p:nvSpPr>
        <p:spPr>
          <a:xfrm>
            <a:off x="9801606" y="2130552"/>
            <a:ext cx="137160" cy="274320"/>
          </a:xfrm>
          <a:prstGeom prst="chevron">
            <a:avLst/>
          </a:prstGeom>
          <a:solidFill>
            <a:schemeClr val="accent3"/>
          </a:solidFill>
          <a:ln/>
        </p:spPr>
      </p:sp>
      <p:sp>
        <p:nvSpPr>
          <p:cNvPr id="33" name="step 6 card"/>
          <p:cNvSpPr/>
          <p:nvPr/>
        </p:nvSpPr>
        <p:spPr>
          <a:xfrm>
            <a:off x="9984486" y="1600200"/>
            <a:ext cx="1658569" cy="3611880"/>
          </a:xfrm>
          <a:prstGeom prst="roundRect">
            <a:avLst>
              <a:gd name="adj" fmla="val 6616"/>
            </a:avLst>
          </a:prstGeom>
          <a:solidFill>
            <a:schemeClr val="bg2"/>
          </a:solidFill>
          <a:ln/>
        </p:spPr>
      </p:sp>
      <p:sp>
        <p:nvSpPr>
          <p:cNvPr id="34" name="step 6 badge"/>
          <p:cNvSpPr/>
          <p:nvPr/>
        </p:nvSpPr>
        <p:spPr>
          <a:xfrm>
            <a:off x="10425151" y="1874520"/>
            <a:ext cx="777240" cy="777240"/>
          </a:xfrm>
          <a:prstGeom prst="ellipse">
            <a:avLst/>
          </a:prstGeom>
          <a:solidFill>
            <a:schemeClr val="accent2"/>
          </a:solidFill>
          <a:ln/>
        </p:spPr>
      </p:sp>
      <p:pic>
        <p:nvPicPr>
          <p:cNvPr id="35" name="step 6 icon" descr="preencoded.png">    </p:cNvPr>
          <p:cNvPicPr>
            <a:picLocks noChangeAspect="1"/>
          </p:cNvPicPr>
          <p:nvPr/>
        </p:nvPicPr>
        <p:blipFill>
          <a:blip r:embed="rId6"/>
          <a:stretch>
            <a:fillRect/>
          </a:stretch>
        </p:blipFill>
        <p:spPr>
          <a:xfrm>
            <a:off x="10611688" y="2061058"/>
            <a:ext cx="404165" cy="404165"/>
          </a:xfrm>
          <a:prstGeom prst="rect">
            <a:avLst/>
          </a:prstGeom>
        </p:spPr>
      </p:pic>
      <p:sp>
        <p:nvSpPr>
          <p:cNvPr id="36" name="Text 28"/>
          <p:cNvSpPr txBox="1"/>
          <p:nvPr/>
        </p:nvSpPr>
        <p:spPr>
          <a:xfrm>
            <a:off x="10121646" y="2834640"/>
            <a:ext cx="1384249" cy="411480"/>
          </a:xfrm>
          <a:prstGeom prst="rect">
            <a:avLst/>
          </a:prstGeom>
          <a:noFill/>
          <a:ln/>
        </p:spPr>
        <p:txBody>
          <a:bodyPr wrap="square" lIns="0" tIns="0" rIns="0" bIns="0" rtlCol="0" anchor="t"/>
          <a:lstStyle/>
          <a:p>
            <a:pPr algn="ctr" indent="0" marL="0">
              <a:buNone/>
            </a:pPr>
            <a:r>
              <a:rPr lang="en-US" sz="1800" b="1" dirty="0">
                <a:solidFill>
                  <a:schemeClr val="tx2"/>
                </a:solidFill>
                <a:latin typeface="Cambria" pitchFamily="34" charset="0"/>
                <a:ea typeface="Cambria" pitchFamily="34" charset="-122"/>
                <a:cs typeface="Cambria" pitchFamily="34" charset="-120"/>
              </a:rPr>
              <a:t>6. Deliver</a:t>
            </a:r>
            <a:endParaRPr lang="en-US" sz="1800" dirty="0"/>
          </a:p>
        </p:txBody>
      </p:sp>
      <p:sp>
        <p:nvSpPr>
          <p:cNvPr id="37" name="Text 29"/>
          <p:cNvSpPr txBox="1"/>
          <p:nvPr/>
        </p:nvSpPr>
        <p:spPr>
          <a:xfrm>
            <a:off x="10167366" y="3337560"/>
            <a:ext cx="1292809" cy="2286000"/>
          </a:xfrm>
          <a:prstGeom prst="rect">
            <a:avLst/>
          </a:prstGeom>
          <a:noFill/>
          <a:ln/>
        </p:spPr>
        <p:txBody>
          <a:bodyPr wrap="square" lIns="0" tIns="0" rIns="0" bIns="0" rtlCol="0" anchor="t"/>
          <a:lstStyle/>
          <a:p>
            <a:pPr indent="0" marL="0">
              <a:buNone/>
            </a:pPr>
            <a:r>
              <a:rPr lang="en-US" sz="1400" dirty="0">
                <a:solidFill>
                  <a:schemeClr val="tx1"/>
                </a:solidFill>
              </a:rPr>
              <a:t>Alerts, executive briefs and Ask-a-question, with exports to Word, PDF and PowerPoint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Example: one trial update becomes an Executive Alert</a:t>
            </a:r>
            <a:endParaRPr lang="en-US" sz="3200" dirty="0"/>
          </a:p>
        </p:txBody>
      </p:sp>
      <p:sp>
        <p:nvSpPr>
          <p:cNvPr id="3" name="Text 1"/>
          <p:cNvSpPr txBox="1"/>
          <p:nvPr/>
        </p:nvSpPr>
        <p:spPr>
          <a:xfrm>
            <a:off x="548640" y="1463040"/>
            <a:ext cx="6583680" cy="365760"/>
          </a:xfrm>
          <a:prstGeom prst="rect">
            <a:avLst/>
          </a:prstGeom>
          <a:noFill/>
          <a:ln/>
        </p:spPr>
        <p:txBody>
          <a:bodyPr wrap="square" lIns="0" tIns="0" rIns="0" bIns="0" rtlCol="0" anchor="t"/>
          <a:lstStyle/>
          <a:p>
            <a:pPr indent="0" marL="0">
              <a:buNone/>
            </a:pPr>
            <a:r>
              <a:rPr lang="en-US" sz="1600" b="1" dirty="0">
                <a:solidFill>
                  <a:schemeClr val="tx2"/>
                </a:solidFill>
              </a:rPr>
              <a:t>What changed in trial NCT99000001 (competitor drug CA-201)</a:t>
            </a:r>
            <a:endParaRPr lang="en-US" sz="1600" dirty="0"/>
          </a:p>
        </p:txBody>
      </p:sp>
      <p:graphicFrame>
        <p:nvGraphicFramePr>
          <p:cNvPr id="5" name="change table"/>
          <p:cNvGraphicFramePr>
            <a:graphicFrameLocks noGrp="1"/>
          </p:cNvGraphicFramePr>
          <p:nvPr>
            <p:extLst>
              <p:ext uri="{D42A27DB-BD31-4B8C-83A1-F6EECF244321}">
                <p14:modId xmlns:p14="http://schemas.microsoft.com/office/powerpoint/2010/main" val="1579011935"/>
              </p:ext>
            </p:extLst>
          </p:nvPr>
        </p:nvGraphicFramePr>
        <p:xfrm>
          <a:off x="548640" y="1920240"/>
          <a:ext cx="6583680" cy="914400"/>
        </p:xfrm>
        <a:graphic>
          <a:graphicData uri="http://schemas.openxmlformats.org/drawingml/2006/table">
            <a:tbl>
              <a:tblPr/>
              <a:tblGrid>
                <a:gridCol w="1920240"/>
                <a:gridCol w="2103120"/>
                <a:gridCol w="2560320"/>
              </a:tblGrid>
              <a:tr h="502920">
                <a:tc>
                  <a:txBody>
                    <a:bodyPr/>
                    <a:lstStyle/>
                    <a:p>
                      <a:pPr indent="0" marL="0">
                        <a:buNone/>
                      </a:pPr>
                      <a:r>
                        <a:rPr lang="en-US" sz="1400" b="1" dirty="0">
                          <a:solidFill>
                            <a:schemeClr val="bg1"/>
                          </a:solidFill>
                        </a:rPr>
                        <a:t>Field</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Before</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accent1"/>
                    </a:solidFill>
                  </a:tcPr>
                </a:tc>
                <a:tc>
                  <a:txBody>
                    <a:bodyPr/>
                    <a:lstStyle/>
                    <a:p>
                      <a:pPr indent="0" marL="0">
                        <a:buNone/>
                      </a:pPr>
                      <a:r>
                        <a:rPr lang="en-US" sz="1400" b="1" dirty="0">
                          <a:solidFill>
                            <a:schemeClr val="bg1"/>
                          </a:solidFill>
                        </a:rPr>
                        <a:t>After</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accent1"/>
                    </a:solidFill>
                  </a:tcPr>
                </a:tc>
              </a:tr>
              <a:tr h="502920">
                <a:tc>
                  <a:txBody>
                    <a:bodyPr/>
                    <a:lstStyle/>
                    <a:p>
                      <a:pPr indent="0" marL="0">
                        <a:buNone/>
                      </a:pPr>
                      <a:r>
                        <a:rPr lang="en-US" sz="1400" dirty="0">
                          <a:solidFill>
                            <a:schemeClr val="tx1"/>
                          </a:solidFill>
                        </a:rPr>
                        <a:t>Enrollment target</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320</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480  (+50%)</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Primary completion</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Jun 2027</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Nov 2027  (5 months later)</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r>
              <a:tr h="502920">
                <a:tc>
                  <a:txBody>
                    <a:bodyPr/>
                    <a:lstStyle/>
                    <a:p>
                      <a:pPr indent="0" marL="0">
                        <a:buNone/>
                      </a:pPr>
                      <a:r>
                        <a:rPr lang="en-US" sz="1400" dirty="0">
                          <a:solidFill>
                            <a:schemeClr val="tx1"/>
                          </a:solidFill>
                        </a:rPr>
                        <a:t>Primary endpoint</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Objective response rate</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c>
                  <a:txBody>
                    <a:bodyPr/>
                    <a:lstStyle/>
                    <a:p>
                      <a:pPr indent="0" marL="0">
                        <a:buNone/>
                      </a:pPr>
                      <a:r>
                        <a:rPr lang="en-US" sz="1400" b="1" dirty="0">
                          <a:solidFill>
                            <a:schemeClr val="tx1"/>
                          </a:solidFill>
                        </a:rPr>
                        <a:t>Progression-free survival</a:t>
                      </a:r>
                      <a:endParaRPr lang="en-US" sz="1400" dirty="0"/>
                    </a:p>
                  </a:txBody>
                  <a:tcPr marL="91440" marR="91440" marT="45720" marB="45720" anchor="ctr">
                    <a:lnL w="9525" cap="flat" cmpd="sng" algn="ctr">
                      <a:solidFill>
                        <a:srgbClr val="EEF5F4"/>
                      </a:solidFill>
                      <a:prstDash val="solid"/>
                      <a:round/>
                      <a:headEnd type="none" w="med" len="med"/>
                      <a:tailEnd type="none" w="med" len="med"/>
                    </a:lnL>
                    <a:lnR w="9525" cap="flat" cmpd="sng" algn="ctr">
                      <a:solidFill>
                        <a:srgbClr val="EEF5F4"/>
                      </a:solidFill>
                      <a:prstDash val="solid"/>
                      <a:round/>
                      <a:headEnd type="none" w="med" len="med"/>
                      <a:tailEnd type="none" w="med" len="med"/>
                    </a:lnR>
                    <a:lnT w="9525" cap="flat" cmpd="sng" algn="ctr">
                      <a:solidFill>
                        <a:srgbClr val="EEF5F4"/>
                      </a:solidFill>
                      <a:prstDash val="solid"/>
                      <a:round/>
                      <a:headEnd type="none" w="med" len="med"/>
                      <a:tailEnd type="none" w="med" len="med"/>
                    </a:lnT>
                    <a:lnB w="9525" cap="flat" cmpd="sng" algn="ctr">
                      <a:solidFill>
                        <a:srgbClr val="EEF5F4"/>
                      </a:solidFill>
                      <a:prstDash val="solid"/>
                      <a:round/>
                      <a:headEnd type="none" w="med" len="med"/>
                      <a:tailEnd type="none" w="med" len="med"/>
                    </a:lnB>
                    <a:solidFill>
                      <a:schemeClr val="bg1"/>
                    </a:solidFill>
                  </a:tcPr>
                </a:tc>
              </a:tr>
            </a:tbl>
          </a:graphicData>
        </a:graphic>
      </p:graphicFrame>
      <p:sp>
        <p:nvSpPr>
          <p:cNvPr id="5" name="Text 2"/>
          <p:cNvSpPr txBox="1"/>
          <p:nvPr/>
        </p:nvSpPr>
        <p:spPr>
          <a:xfrm>
            <a:off x="548640" y="4160520"/>
            <a:ext cx="6583680" cy="822960"/>
          </a:xfrm>
          <a:prstGeom prst="rect">
            <a:avLst/>
          </a:prstGeom>
          <a:noFill/>
          <a:ln/>
        </p:spPr>
        <p:txBody>
          <a:bodyPr wrap="square" lIns="0" tIns="0" rIns="0" bIns="0" rtlCol="0" anchor="t"/>
          <a:lstStyle/>
          <a:p>
            <a:pPr indent="0" marL="0">
              <a:buNone/>
            </a:pPr>
            <a:r>
              <a:rPr lang="en-US" sz="1500" dirty="0">
                <a:solidFill>
                  <a:schemeClr val="tx1"/>
                </a:solidFill>
              </a:rPr>
              <a:t>Why it matters to you: CA-201 competes with your drug XD-101, sharing target, disease, line of therapy and biomarker (100% similar).</a:t>
            </a:r>
            <a:endParaRPr lang="en-US" sz="1500" dirty="0"/>
          </a:p>
        </p:txBody>
      </p:sp>
      <p:sp>
        <p:nvSpPr>
          <p:cNvPr id="6" name="Text 3"/>
          <p:cNvSpPr txBox="1"/>
          <p:nvPr/>
        </p:nvSpPr>
        <p:spPr>
          <a:xfrm>
            <a:off x="548640" y="5029200"/>
            <a:ext cx="6583680" cy="822960"/>
          </a:xfrm>
          <a:prstGeom prst="rect">
            <a:avLst/>
          </a:prstGeom>
          <a:noFill/>
          <a:ln/>
        </p:spPr>
        <p:txBody>
          <a:bodyPr wrap="square" lIns="0" tIns="0" rIns="0" bIns="0" rtlCol="0" anchor="t"/>
          <a:lstStyle/>
          <a:p>
            <a:pPr indent="0" marL="0">
              <a:buNone/>
            </a:pPr>
            <a:r>
              <a:rPr lang="en-US" sz="1500" i="1" dirty="0">
                <a:solidFill>
                  <a:schemeClr val="accent5"/>
                </a:solidFill>
              </a:rPr>
              <a:t>Suggested next step: review the sponsor's investor materials for the rationale (the source does not say why).</a:t>
            </a:r>
            <a:endParaRPr lang="en-US" sz="1500" dirty="0"/>
          </a:p>
        </p:txBody>
      </p:sp>
      <p:sp>
        <p:nvSpPr>
          <p:cNvPr id="7" name="score card"/>
          <p:cNvSpPr/>
          <p:nvPr/>
        </p:nvSpPr>
        <p:spPr>
          <a:xfrm>
            <a:off x="7680960" y="1463040"/>
            <a:ext cx="3959352" cy="4206240"/>
          </a:xfrm>
          <a:prstGeom prst="roundRect">
            <a:avLst>
              <a:gd name="adj" fmla="val 2771"/>
            </a:avLst>
          </a:prstGeom>
          <a:solidFill>
            <a:schemeClr val="bg2"/>
          </a:solidFill>
          <a:ln/>
        </p:spPr>
      </p:sp>
      <p:sp>
        <p:nvSpPr>
          <p:cNvPr id="8" name="Text 5"/>
          <p:cNvSpPr txBox="1"/>
          <p:nvPr/>
        </p:nvSpPr>
        <p:spPr>
          <a:xfrm>
            <a:off x="7680960" y="1783080"/>
            <a:ext cx="3959352" cy="1371600"/>
          </a:xfrm>
          <a:prstGeom prst="rect">
            <a:avLst/>
          </a:prstGeom>
          <a:noFill/>
          <a:ln/>
        </p:spPr>
        <p:txBody>
          <a:bodyPr wrap="square" lIns="0" tIns="0" rIns="0" bIns="0" rtlCol="0" anchor="t"/>
          <a:lstStyle/>
          <a:p>
            <a:pPr algn="ctr" indent="0" marL="0">
              <a:buNone/>
            </a:pPr>
            <a:r>
              <a:rPr lang="en-US" sz="8800" b="1" dirty="0">
                <a:solidFill>
                  <a:schemeClr val="accent2"/>
                </a:solidFill>
                <a:latin typeface="Cambria" pitchFamily="34" charset="0"/>
                <a:ea typeface="Cambria" pitchFamily="34" charset="-122"/>
                <a:cs typeface="Cambria" pitchFamily="34" charset="-120"/>
              </a:rPr>
              <a:t>93</a:t>
            </a:r>
            <a:endParaRPr lang="en-US" sz="8800" dirty="0"/>
          </a:p>
        </p:txBody>
      </p:sp>
      <p:sp>
        <p:nvSpPr>
          <p:cNvPr id="9" name="Text 6"/>
          <p:cNvSpPr txBox="1"/>
          <p:nvPr/>
        </p:nvSpPr>
        <p:spPr>
          <a:xfrm>
            <a:off x="7863840" y="3200400"/>
            <a:ext cx="3593592" cy="365760"/>
          </a:xfrm>
          <a:prstGeom prst="rect">
            <a:avLst/>
          </a:prstGeom>
          <a:noFill/>
          <a:ln/>
        </p:spPr>
        <p:txBody>
          <a:bodyPr wrap="square" lIns="0" tIns="0" rIns="0" bIns="0" rtlCol="0" anchor="t"/>
          <a:lstStyle/>
          <a:p>
            <a:pPr algn="ctr" indent="0" marL="0">
              <a:buNone/>
            </a:pPr>
            <a:r>
              <a:rPr lang="en-US" sz="1500" dirty="0">
                <a:solidFill>
                  <a:schemeClr val="tx2"/>
                </a:solidFill>
              </a:rPr>
              <a:t>Importance score out of 100</a:t>
            </a:r>
            <a:endParaRPr lang="en-US" sz="1500" dirty="0"/>
          </a:p>
        </p:txBody>
      </p:sp>
      <p:sp>
        <p:nvSpPr>
          <p:cNvPr id="10" name="band pill"/>
          <p:cNvSpPr/>
          <p:nvPr/>
        </p:nvSpPr>
        <p:spPr>
          <a:xfrm>
            <a:off x="8549640" y="3749040"/>
            <a:ext cx="2221992" cy="457200"/>
          </a:xfrm>
          <a:prstGeom prst="roundRect">
            <a:avLst>
              <a:gd name="adj" fmla="val 50000"/>
            </a:avLst>
          </a:prstGeom>
          <a:solidFill>
            <a:schemeClr val="accent2"/>
          </a:solidFill>
          <a:ln/>
        </p:spPr>
      </p:sp>
      <p:sp>
        <p:nvSpPr>
          <p:cNvPr id="11" name="Text 8"/>
          <p:cNvSpPr txBox="1"/>
          <p:nvPr/>
        </p:nvSpPr>
        <p:spPr>
          <a:xfrm>
            <a:off x="8549640" y="3749040"/>
            <a:ext cx="2221992" cy="457200"/>
          </a:xfrm>
          <a:prstGeom prst="rect">
            <a:avLst/>
          </a:prstGeom>
          <a:noFill/>
          <a:ln/>
        </p:spPr>
        <p:txBody>
          <a:bodyPr wrap="square" lIns="0" tIns="0" rIns="0" bIns="0" rtlCol="0" anchor="ctr"/>
          <a:lstStyle/>
          <a:p>
            <a:pPr algn="ctr" indent="0" marL="0">
              <a:buNone/>
            </a:pPr>
            <a:r>
              <a:rPr lang="en-US" sz="1500" b="1" dirty="0">
                <a:solidFill>
                  <a:schemeClr val="bg1"/>
                </a:solidFill>
              </a:rPr>
              <a:t>Executive Alert</a:t>
            </a:r>
            <a:endParaRPr lang="en-US" sz="1500" dirty="0"/>
          </a:p>
        </p:txBody>
      </p:sp>
      <p:sp>
        <p:nvSpPr>
          <p:cNvPr id="12" name="Text 9"/>
          <p:cNvSpPr txBox="1"/>
          <p:nvPr/>
        </p:nvSpPr>
        <p:spPr>
          <a:xfrm>
            <a:off x="7955280" y="4434840"/>
            <a:ext cx="3410712" cy="1188720"/>
          </a:xfrm>
          <a:prstGeom prst="rect">
            <a:avLst/>
          </a:prstGeom>
          <a:noFill/>
          <a:ln/>
        </p:spPr>
        <p:txBody>
          <a:bodyPr wrap="square" lIns="0" tIns="0" rIns="0" bIns="0" rtlCol="0" anchor="t"/>
          <a:lstStyle/>
          <a:p>
            <a:pPr algn="l" indent="0" marL="0">
              <a:buNone/>
            </a:pPr>
            <a:r>
              <a:rPr lang="en-US" sz="1400" dirty="0">
                <a:solidFill>
                  <a:schemeClr val="tx1"/>
                </a:solidFill>
              </a:rPr>
              <a:t>Mapped automatically to XD-101 with the path: XD-101 competes with CA-201, which is being tested in NCT99000001</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Every score explains itself: the 93 points, factor by factor</a:t>
            </a:r>
            <a:endParaRPr lang="en-US" sz="3200" dirty="0"/>
          </a:p>
        </p:txBody>
      </p:sp>
      <p:graphicFrame>
        <p:nvGraphicFramePr>
          <p:cNvPr id="3" name="score factors chart" descr=""/>
          <p:cNvGraphicFramePr/>
          <p:nvPr/>
        </p:nvGraphicFramePr>
        <p:xfrm>
          <a:off x="548640" y="1417320"/>
          <a:ext cx="6949440" cy="4663440"/>
        </p:xfrm>
        <a:graphic xmlns:a="http://schemas.openxmlformats.org/drawingml/2006/main">
          <a:graphicData uri="http://schemas.openxmlformats.org/drawingml/2006/chart">
            <c:chart xmlns:c="http://schemas.openxmlformats.org/drawingml/2006/chart" r:id="rId1"/>
          </a:graphicData>
        </a:graphic>
      </p:graphicFrame>
      <p:sp>
        <p:nvSpPr>
          <p:cNvPr id="4" name="xai 1 badge"/>
          <p:cNvSpPr/>
          <p:nvPr/>
        </p:nvSpPr>
        <p:spPr>
          <a:xfrm>
            <a:off x="7863840" y="1508760"/>
            <a:ext cx="640080" cy="640080"/>
          </a:xfrm>
          <a:prstGeom prst="ellipse">
            <a:avLst/>
          </a:prstGeom>
          <a:solidFill>
            <a:schemeClr val="accent1"/>
          </a:solidFill>
          <a:ln/>
        </p:spPr>
      </p:sp>
      <p:pic>
        <p:nvPicPr>
          <p:cNvPr id="5" name="xai 1 icon" descr="preencoded.png">    </p:cNvPr>
          <p:cNvPicPr>
            <a:picLocks noChangeAspect="1"/>
          </p:cNvPicPr>
          <p:nvPr/>
        </p:nvPicPr>
        <p:blipFill>
          <a:blip r:embed="rId2"/>
          <a:stretch>
            <a:fillRect/>
          </a:stretch>
        </p:blipFill>
        <p:spPr>
          <a:xfrm>
            <a:off x="8017459" y="1662379"/>
            <a:ext cx="332842" cy="332842"/>
          </a:xfrm>
          <a:prstGeom prst="rect">
            <a:avLst/>
          </a:prstGeom>
        </p:spPr>
      </p:pic>
      <p:sp>
        <p:nvSpPr>
          <p:cNvPr id="6" name="Text 2"/>
          <p:cNvSpPr txBox="1"/>
          <p:nvPr/>
        </p:nvSpPr>
        <p:spPr>
          <a:xfrm>
            <a:off x="8686800" y="1508760"/>
            <a:ext cx="2971800" cy="365760"/>
          </a:xfrm>
          <a:prstGeom prst="rect">
            <a:avLst/>
          </a:prstGeom>
          <a:noFill/>
          <a:ln/>
        </p:spPr>
        <p:txBody>
          <a:bodyPr wrap="square" lIns="0" tIns="0" rIns="0" bIns="0" rtlCol="0" anchor="t"/>
          <a:lstStyle/>
          <a:p>
            <a:pPr indent="0" marL="0">
              <a:buNone/>
            </a:pPr>
            <a:r>
              <a:rPr lang="en-US" sz="1700" b="1" dirty="0">
                <a:solidFill>
                  <a:schemeClr val="tx2"/>
                </a:solidFill>
              </a:rPr>
              <a:t>Computed, not invented</a:t>
            </a:r>
            <a:endParaRPr lang="en-US" sz="1700" dirty="0"/>
          </a:p>
        </p:txBody>
      </p:sp>
      <p:sp>
        <p:nvSpPr>
          <p:cNvPr id="7" name="Text 3"/>
          <p:cNvSpPr txBox="1"/>
          <p:nvPr/>
        </p:nvSpPr>
        <p:spPr>
          <a:xfrm>
            <a:off x="8686800" y="1920240"/>
            <a:ext cx="2971800" cy="914400"/>
          </a:xfrm>
          <a:prstGeom prst="rect">
            <a:avLst/>
          </a:prstGeom>
          <a:noFill/>
          <a:ln/>
        </p:spPr>
        <p:txBody>
          <a:bodyPr wrap="square" lIns="0" tIns="0" rIns="0" bIns="0" rtlCol="0" anchor="t"/>
          <a:lstStyle/>
          <a:p>
            <a:pPr indent="0" marL="0">
              <a:buNone/>
            </a:pPr>
            <a:r>
              <a:rPr lang="en-US" sz="1400" dirty="0">
                <a:solidFill>
                  <a:schemeClr val="tx1"/>
                </a:solidFill>
              </a:rPr>
              <a:t>Explanations come from the same numbers that produced the score.</a:t>
            </a:r>
            <a:endParaRPr lang="en-US" sz="1400" dirty="0"/>
          </a:p>
        </p:txBody>
      </p:sp>
      <p:sp>
        <p:nvSpPr>
          <p:cNvPr id="8" name="xai 2 badge"/>
          <p:cNvSpPr/>
          <p:nvPr/>
        </p:nvSpPr>
        <p:spPr>
          <a:xfrm>
            <a:off x="7863840" y="3017520"/>
            <a:ext cx="640080" cy="640080"/>
          </a:xfrm>
          <a:prstGeom prst="ellipse">
            <a:avLst/>
          </a:prstGeom>
          <a:solidFill>
            <a:schemeClr val="accent1"/>
          </a:solidFill>
          <a:ln/>
        </p:spPr>
      </p:sp>
      <p:pic>
        <p:nvPicPr>
          <p:cNvPr id="9" name="xai 2 icon" descr="preencoded.png">    </p:cNvPr>
          <p:cNvPicPr>
            <a:picLocks noChangeAspect="1"/>
          </p:cNvPicPr>
          <p:nvPr/>
        </p:nvPicPr>
        <p:blipFill>
          <a:blip r:embed="rId3"/>
          <a:stretch>
            <a:fillRect/>
          </a:stretch>
        </p:blipFill>
        <p:spPr>
          <a:xfrm>
            <a:off x="8017459" y="3171139"/>
            <a:ext cx="332842" cy="332842"/>
          </a:xfrm>
          <a:prstGeom prst="rect">
            <a:avLst/>
          </a:prstGeom>
        </p:spPr>
      </p:pic>
      <p:sp>
        <p:nvSpPr>
          <p:cNvPr id="10" name="Text 5"/>
          <p:cNvSpPr txBox="1"/>
          <p:nvPr/>
        </p:nvSpPr>
        <p:spPr>
          <a:xfrm>
            <a:off x="8686800" y="3017520"/>
            <a:ext cx="2971800" cy="365760"/>
          </a:xfrm>
          <a:prstGeom prst="rect">
            <a:avLst/>
          </a:prstGeom>
          <a:noFill/>
          <a:ln/>
        </p:spPr>
        <p:txBody>
          <a:bodyPr wrap="square" lIns="0" tIns="0" rIns="0" bIns="0" rtlCol="0" anchor="t"/>
          <a:lstStyle/>
          <a:p>
            <a:pPr indent="0" marL="0">
              <a:buNone/>
            </a:pPr>
            <a:r>
              <a:rPr lang="en-US" sz="1700" b="1" dirty="0">
                <a:solidFill>
                  <a:schemeClr val="tx2"/>
                </a:solidFill>
              </a:rPr>
              <a:t>What would change it</a:t>
            </a:r>
            <a:endParaRPr lang="en-US" sz="1700" dirty="0"/>
          </a:p>
        </p:txBody>
      </p:sp>
      <p:sp>
        <p:nvSpPr>
          <p:cNvPr id="11" name="Text 6"/>
          <p:cNvSpPr txBox="1"/>
          <p:nvPr/>
        </p:nvSpPr>
        <p:spPr>
          <a:xfrm>
            <a:off x="8686800" y="3429000"/>
            <a:ext cx="2971800" cy="914400"/>
          </a:xfrm>
          <a:prstGeom prst="rect">
            <a:avLst/>
          </a:prstGeom>
          <a:noFill/>
          <a:ln/>
        </p:spPr>
        <p:txBody>
          <a:bodyPr wrap="square" lIns="0" tIns="0" rIns="0" bIns="0" rtlCol="0" anchor="t"/>
          <a:lstStyle/>
          <a:p>
            <a:pPr indent="0" marL="0">
              <a:buNone/>
            </a:pPr>
            <a:r>
              <a:rPr lang="en-US" sz="1400" dirty="0">
                <a:solidFill>
                  <a:schemeClr val="tx1"/>
                </a:solidFill>
              </a:rPr>
              <a:t>"Drops out of Executive Alert if the score fell 8.3 points."</a:t>
            </a:r>
            <a:endParaRPr lang="en-US" sz="1400" dirty="0"/>
          </a:p>
        </p:txBody>
      </p:sp>
      <p:sp>
        <p:nvSpPr>
          <p:cNvPr id="12" name="xai 3 badge"/>
          <p:cNvSpPr/>
          <p:nvPr/>
        </p:nvSpPr>
        <p:spPr>
          <a:xfrm>
            <a:off x="7863840" y="4526280"/>
            <a:ext cx="640080" cy="640080"/>
          </a:xfrm>
          <a:prstGeom prst="ellipse">
            <a:avLst/>
          </a:prstGeom>
          <a:solidFill>
            <a:schemeClr val="accent1"/>
          </a:solidFill>
          <a:ln/>
        </p:spPr>
      </p:sp>
      <p:pic>
        <p:nvPicPr>
          <p:cNvPr id="13" name="xai 3 icon" descr="preencoded.png">    </p:cNvPr>
          <p:cNvPicPr>
            <a:picLocks noChangeAspect="1"/>
          </p:cNvPicPr>
          <p:nvPr/>
        </p:nvPicPr>
        <p:blipFill>
          <a:blip r:embed="rId4"/>
          <a:stretch>
            <a:fillRect/>
          </a:stretch>
        </p:blipFill>
        <p:spPr>
          <a:xfrm>
            <a:off x="8017459" y="4679899"/>
            <a:ext cx="332842" cy="332842"/>
          </a:xfrm>
          <a:prstGeom prst="rect">
            <a:avLst/>
          </a:prstGeom>
        </p:spPr>
      </p:pic>
      <p:sp>
        <p:nvSpPr>
          <p:cNvPr id="14" name="Text 8"/>
          <p:cNvSpPr txBox="1"/>
          <p:nvPr/>
        </p:nvSpPr>
        <p:spPr>
          <a:xfrm>
            <a:off x="8686800" y="4526280"/>
            <a:ext cx="2971800" cy="365760"/>
          </a:xfrm>
          <a:prstGeom prst="rect">
            <a:avLst/>
          </a:prstGeom>
          <a:noFill/>
          <a:ln/>
        </p:spPr>
        <p:txBody>
          <a:bodyPr wrap="square" lIns="0" tIns="0" rIns="0" bIns="0" rtlCol="0" anchor="t"/>
          <a:lstStyle/>
          <a:p>
            <a:pPr indent="0" marL="0">
              <a:buNone/>
            </a:pPr>
            <a:r>
              <a:rPr lang="en-US" sz="1700" b="1" dirty="0">
                <a:solidFill>
                  <a:schemeClr val="tx2"/>
                </a:solidFill>
              </a:rPr>
              <a:t>What it doesn't know</a:t>
            </a:r>
            <a:endParaRPr lang="en-US" sz="1700" dirty="0"/>
          </a:p>
        </p:txBody>
      </p:sp>
      <p:sp>
        <p:nvSpPr>
          <p:cNvPr id="15" name="Text 9"/>
          <p:cNvSpPr txBox="1"/>
          <p:nvPr/>
        </p:nvSpPr>
        <p:spPr>
          <a:xfrm>
            <a:off x="8686800" y="4937760"/>
            <a:ext cx="2971800" cy="914400"/>
          </a:xfrm>
          <a:prstGeom prst="rect">
            <a:avLst/>
          </a:prstGeom>
          <a:noFill/>
          <a:ln/>
        </p:spPr>
        <p:txBody>
          <a:bodyPr wrap="square" lIns="0" tIns="0" rIns="0" bIns="0" rtlCol="0" anchor="t"/>
          <a:lstStyle/>
          <a:p>
            <a:pPr indent="0" marL="0">
              <a:buNone/>
            </a:pPr>
            <a:r>
              <a:rPr lang="en-US" sz="1400" dirty="0">
                <a:solidFill>
                  <a:schemeClr val="tx1"/>
                </a:solidFill>
              </a:rPr>
              <a:t>Stale sources, unknowns and indirect comparisons are always shown.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AI that cites its sources and says "I don't know"</a:t>
            </a:r>
            <a:endParaRPr lang="en-US" sz="3200" dirty="0"/>
          </a:p>
        </p:txBody>
      </p:sp>
      <p:sp>
        <p:nvSpPr>
          <p:cNvPr id="3" name="Text 1"/>
          <p:cNvSpPr txBox="1"/>
          <p:nvPr/>
        </p:nvSpPr>
        <p:spPr>
          <a:xfrm>
            <a:off x="548640" y="1463040"/>
            <a:ext cx="5394960" cy="365760"/>
          </a:xfrm>
          <a:prstGeom prst="rect">
            <a:avLst/>
          </a:prstGeom>
          <a:noFill/>
          <a:ln/>
        </p:spPr>
        <p:txBody>
          <a:bodyPr wrap="square" lIns="0" tIns="0" rIns="0" bIns="0" rtlCol="0" anchor="t"/>
          <a:lstStyle/>
          <a:p>
            <a:pPr indent="0" marL="0">
              <a:buNone/>
            </a:pPr>
            <a:r>
              <a:rPr lang="en-US" sz="1600" b="1" dirty="0">
                <a:solidFill>
                  <a:schemeClr val="tx2"/>
                </a:solidFill>
              </a:rPr>
              <a:t>Every statement carries one of four labels</a:t>
            </a:r>
            <a:endParaRPr lang="en-US" sz="1600" dirty="0"/>
          </a:p>
        </p:txBody>
      </p:sp>
      <p:sp>
        <p:nvSpPr>
          <p:cNvPr id="4" name="label 1 pill"/>
          <p:cNvSpPr/>
          <p:nvPr/>
        </p:nvSpPr>
        <p:spPr>
          <a:xfrm>
            <a:off x="548640" y="1965960"/>
            <a:ext cx="2103120" cy="457200"/>
          </a:xfrm>
          <a:prstGeom prst="roundRect">
            <a:avLst>
              <a:gd name="adj" fmla="val 50000"/>
            </a:avLst>
          </a:prstGeom>
          <a:solidFill>
            <a:schemeClr val="accent1"/>
          </a:solidFill>
          <a:ln/>
        </p:spPr>
      </p:sp>
      <p:sp>
        <p:nvSpPr>
          <p:cNvPr id="5" name="Text 3"/>
          <p:cNvSpPr txBox="1"/>
          <p:nvPr/>
        </p:nvSpPr>
        <p:spPr>
          <a:xfrm>
            <a:off x="548640" y="1965960"/>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Verified fact</a:t>
            </a:r>
            <a:endParaRPr lang="en-US" sz="1400" dirty="0"/>
          </a:p>
        </p:txBody>
      </p:sp>
      <p:sp>
        <p:nvSpPr>
          <p:cNvPr id="6" name="Text 4"/>
          <p:cNvSpPr txBox="1"/>
          <p:nvPr/>
        </p:nvSpPr>
        <p:spPr>
          <a:xfrm>
            <a:off x="2834640" y="1947672"/>
            <a:ext cx="3200400" cy="822960"/>
          </a:xfrm>
          <a:prstGeom prst="rect">
            <a:avLst/>
          </a:prstGeom>
          <a:noFill/>
          <a:ln/>
        </p:spPr>
        <p:txBody>
          <a:bodyPr wrap="square" lIns="0" tIns="0" rIns="0" bIns="0" rtlCol="0" anchor="t"/>
          <a:lstStyle/>
          <a:p>
            <a:pPr indent="0" marL="0">
              <a:buNone/>
            </a:pPr>
            <a:r>
              <a:rPr lang="en-US" sz="1400" dirty="0">
                <a:solidFill>
                  <a:schemeClr val="tx1"/>
                </a:solidFill>
              </a:rPr>
              <a:t>Backed by the cited source; numbers, dates and IDs checked automatically</a:t>
            </a:r>
            <a:endParaRPr lang="en-US" sz="1400" dirty="0"/>
          </a:p>
        </p:txBody>
      </p:sp>
      <p:sp>
        <p:nvSpPr>
          <p:cNvPr id="7" name="label 2 pill"/>
          <p:cNvSpPr/>
          <p:nvPr/>
        </p:nvSpPr>
        <p:spPr>
          <a:xfrm>
            <a:off x="548640" y="2990088"/>
            <a:ext cx="2103120" cy="457200"/>
          </a:xfrm>
          <a:prstGeom prst="roundRect">
            <a:avLst>
              <a:gd name="adj" fmla="val 50000"/>
            </a:avLst>
          </a:prstGeom>
          <a:solidFill>
            <a:schemeClr val="accent5"/>
          </a:solidFill>
          <a:ln/>
        </p:spPr>
      </p:sp>
      <p:sp>
        <p:nvSpPr>
          <p:cNvPr id="8" name="Text 6"/>
          <p:cNvSpPr txBox="1"/>
          <p:nvPr/>
        </p:nvSpPr>
        <p:spPr>
          <a:xfrm>
            <a:off x="548640" y="2990088"/>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AI interpretation</a:t>
            </a:r>
            <a:endParaRPr lang="en-US" sz="1400" dirty="0"/>
          </a:p>
        </p:txBody>
      </p:sp>
      <p:sp>
        <p:nvSpPr>
          <p:cNvPr id="9" name="Text 7"/>
          <p:cNvSpPr txBox="1"/>
          <p:nvPr/>
        </p:nvSpPr>
        <p:spPr>
          <a:xfrm>
            <a:off x="2834640" y="2971800"/>
            <a:ext cx="3200400" cy="822960"/>
          </a:xfrm>
          <a:prstGeom prst="rect">
            <a:avLst/>
          </a:prstGeom>
          <a:noFill/>
          <a:ln/>
        </p:spPr>
        <p:txBody>
          <a:bodyPr wrap="square" lIns="0" tIns="0" rIns="0" bIns="0" rtlCol="0" anchor="t"/>
          <a:lstStyle/>
          <a:p>
            <a:pPr indent="0" marL="0">
              <a:buNone/>
            </a:pPr>
            <a:r>
              <a:rPr lang="en-US" sz="1400" dirty="0">
                <a:solidFill>
                  <a:schemeClr val="tx1"/>
                </a:solidFill>
              </a:rPr>
              <a:t>A hypothesis, clearly labelled and hedged; never shown as fact</a:t>
            </a:r>
            <a:endParaRPr lang="en-US" sz="1400" dirty="0"/>
          </a:p>
        </p:txBody>
      </p:sp>
      <p:sp>
        <p:nvSpPr>
          <p:cNvPr id="10" name="label 3 pill"/>
          <p:cNvSpPr/>
          <p:nvPr/>
        </p:nvSpPr>
        <p:spPr>
          <a:xfrm>
            <a:off x="548640" y="4014216"/>
            <a:ext cx="2103120" cy="457200"/>
          </a:xfrm>
          <a:prstGeom prst="roundRect">
            <a:avLst>
              <a:gd name="adj" fmla="val 50000"/>
            </a:avLst>
          </a:prstGeom>
          <a:solidFill>
            <a:schemeClr val="accent6"/>
          </a:solidFill>
          <a:ln/>
        </p:spPr>
      </p:sp>
      <p:sp>
        <p:nvSpPr>
          <p:cNvPr id="11" name="Text 9"/>
          <p:cNvSpPr txBox="1"/>
          <p:nvPr/>
        </p:nvSpPr>
        <p:spPr>
          <a:xfrm>
            <a:off x="548640" y="4014216"/>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Not known yet</a:t>
            </a:r>
            <a:endParaRPr lang="en-US" sz="1400" dirty="0"/>
          </a:p>
        </p:txBody>
      </p:sp>
      <p:sp>
        <p:nvSpPr>
          <p:cNvPr id="12" name="Text 10"/>
          <p:cNvSpPr txBox="1"/>
          <p:nvPr/>
        </p:nvSpPr>
        <p:spPr>
          <a:xfrm>
            <a:off x="2834640" y="3995928"/>
            <a:ext cx="3200400" cy="822960"/>
          </a:xfrm>
          <a:prstGeom prst="rect">
            <a:avLst/>
          </a:prstGeom>
          <a:noFill/>
          <a:ln/>
        </p:spPr>
        <p:txBody>
          <a:bodyPr wrap="square" lIns="0" tIns="0" rIns="0" bIns="0" rtlCol="0" anchor="t"/>
          <a:lstStyle/>
          <a:p>
            <a:pPr indent="0" marL="0">
              <a:buNone/>
            </a:pPr>
            <a:r>
              <a:rPr lang="en-US" sz="1400" dirty="0">
                <a:solidFill>
                  <a:schemeClr val="tx1"/>
                </a:solidFill>
              </a:rPr>
              <a:t>What the evidence does not establish</a:t>
            </a:r>
            <a:endParaRPr lang="en-US" sz="1400" dirty="0"/>
          </a:p>
        </p:txBody>
      </p:sp>
      <p:sp>
        <p:nvSpPr>
          <p:cNvPr id="13" name="label 4 pill"/>
          <p:cNvSpPr/>
          <p:nvPr/>
        </p:nvSpPr>
        <p:spPr>
          <a:xfrm>
            <a:off x="548640" y="5038344"/>
            <a:ext cx="2103120" cy="457200"/>
          </a:xfrm>
          <a:prstGeom prst="roundRect">
            <a:avLst>
              <a:gd name="adj" fmla="val 50000"/>
            </a:avLst>
          </a:prstGeom>
          <a:solidFill>
            <a:schemeClr val="accent4"/>
          </a:solidFill>
          <a:ln/>
        </p:spPr>
      </p:sp>
      <p:sp>
        <p:nvSpPr>
          <p:cNvPr id="14" name="Text 12"/>
          <p:cNvSpPr txBox="1"/>
          <p:nvPr/>
        </p:nvSpPr>
        <p:spPr>
          <a:xfrm>
            <a:off x="548640" y="5038344"/>
            <a:ext cx="2103120" cy="457200"/>
          </a:xfrm>
          <a:prstGeom prst="rect">
            <a:avLst/>
          </a:prstGeom>
          <a:noFill/>
          <a:ln/>
        </p:spPr>
        <p:txBody>
          <a:bodyPr wrap="square" lIns="0" tIns="0" rIns="0" bIns="0" rtlCol="0" anchor="ctr"/>
          <a:lstStyle/>
          <a:p>
            <a:pPr algn="ctr" indent="0" marL="0">
              <a:buNone/>
            </a:pPr>
            <a:r>
              <a:rPr lang="en-US" sz="1400" b="1" dirty="0">
                <a:solidFill>
                  <a:schemeClr val="bg1"/>
                </a:solidFill>
              </a:rPr>
              <a:t>Suggested next step</a:t>
            </a:r>
            <a:endParaRPr lang="en-US" sz="1400" dirty="0"/>
          </a:p>
        </p:txBody>
      </p:sp>
      <p:sp>
        <p:nvSpPr>
          <p:cNvPr id="15" name="Text 13"/>
          <p:cNvSpPr txBox="1"/>
          <p:nvPr/>
        </p:nvSpPr>
        <p:spPr>
          <a:xfrm>
            <a:off x="2834640" y="5020056"/>
            <a:ext cx="3200400" cy="822960"/>
          </a:xfrm>
          <a:prstGeom prst="rect">
            <a:avLst/>
          </a:prstGeom>
          <a:noFill/>
          <a:ln/>
        </p:spPr>
        <p:txBody>
          <a:bodyPr wrap="square" lIns="0" tIns="0" rIns="0" bIns="0" rtlCol="0" anchor="t"/>
          <a:lstStyle/>
          <a:p>
            <a:pPr indent="0" marL="0">
              <a:buNone/>
            </a:pPr>
            <a:r>
              <a:rPr lang="en-US" sz="1400" dirty="0">
                <a:solidFill>
                  <a:schemeClr val="tx1"/>
                </a:solidFill>
              </a:rPr>
              <a:t>Where to look to close the gap</a:t>
            </a:r>
            <a:endParaRPr lang="en-US" sz="1400" dirty="0"/>
          </a:p>
        </p:txBody>
      </p:sp>
      <p:sp>
        <p:nvSpPr>
          <p:cNvPr id="16" name="rag card"/>
          <p:cNvSpPr/>
          <p:nvPr/>
        </p:nvSpPr>
        <p:spPr>
          <a:xfrm>
            <a:off x="6400800" y="1463040"/>
            <a:ext cx="5239512" cy="4160520"/>
          </a:xfrm>
          <a:prstGeom prst="roundRect">
            <a:avLst>
              <a:gd name="adj" fmla="val 2637"/>
            </a:avLst>
          </a:prstGeom>
          <a:solidFill>
            <a:schemeClr val="bg2"/>
          </a:solidFill>
          <a:ln/>
        </p:spPr>
      </p:sp>
      <p:sp>
        <p:nvSpPr>
          <p:cNvPr id="17" name="Text 15"/>
          <p:cNvSpPr txBox="1"/>
          <p:nvPr/>
        </p:nvSpPr>
        <p:spPr>
          <a:xfrm>
            <a:off x="6720840" y="1691640"/>
            <a:ext cx="457200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How answers are grounded</a:t>
            </a:r>
            <a:endParaRPr lang="en-US" sz="1800" dirty="0"/>
          </a:p>
        </p:txBody>
      </p:sp>
      <p:sp>
        <p:nvSpPr>
          <p:cNvPr id="18" name="Text 16"/>
          <p:cNvSpPr txBox="1"/>
          <p:nvPr/>
        </p:nvSpPr>
        <p:spPr>
          <a:xfrm>
            <a:off x="6720840" y="2194560"/>
            <a:ext cx="466344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chemeClr val="tx1"/>
                </a:solidFill>
              </a:rPr>
              <a:t>Retrieves passages three ways (meaning, keywords, linked drugs) and merges them</a:t>
            </a:r>
            <a:endParaRPr lang="en-US" sz="1500" dirty="0"/>
          </a:p>
          <a:p>
            <a:pPr marL="342900" indent="-342900">
              <a:spcAft>
                <a:spcPts val="1000"/>
              </a:spcAft>
              <a:buSzPct val="100000"/>
              <a:buChar char="•"/>
            </a:pPr>
            <a:r>
              <a:rPr lang="en-US" sz="1500" dirty="0">
                <a:solidFill>
                  <a:schemeClr val="tx1"/>
                </a:solidFill>
              </a:rPr>
              <a:t>Claude writes only from the retrieved evidence, tagged S/C/E by source type</a:t>
            </a:r>
            <a:endParaRPr lang="en-US" sz="1500" dirty="0"/>
          </a:p>
          <a:p>
            <a:pPr marL="342900" indent="-342900">
              <a:spcAft>
                <a:spcPts val="1000"/>
              </a:spcAft>
              <a:buSzPct val="100000"/>
              <a:buChar char="•"/>
            </a:pPr>
            <a:r>
              <a:rPr lang="en-US" sz="1500" dirty="0">
                <a:solidFill>
                  <a:schemeClr val="tx1"/>
                </a:solidFill>
              </a:rPr>
              <a:t>An independent checker re-verifies each fact; unsupported facts are withheld</a:t>
            </a:r>
            <a:endParaRPr lang="en-US" sz="1500" dirty="0"/>
          </a:p>
          <a:p>
            <a:pPr marL="342900" indent="-342900">
              <a:spcAft>
                <a:spcPts val="1000"/>
              </a:spcAft>
              <a:buSzPct val="100000"/>
              <a:buChar char="•"/>
            </a:pPr>
            <a:r>
              <a:rPr lang="en-US" sz="1500" dirty="0">
                <a:solidFill>
                  <a:schemeClr val="tx1"/>
                </a:solidFill>
              </a:rPr>
              <a:t>A serious failure blocks the AI text and publishes a facts-only version instead</a:t>
            </a:r>
            <a:endParaRPr lang="en-US" sz="1500" dirty="0"/>
          </a:p>
          <a:p>
            <a:pPr marL="342900" indent="-342900">
              <a:spcAft>
                <a:spcPts val="1000"/>
              </a:spcAft>
              <a:buSzPct val="100000"/>
              <a:buChar char="•"/>
            </a:pPr>
            <a:r>
              <a:rPr lang="en-US" sz="1500" dirty="0">
                <a:solidFill>
                  <a:schemeClr val="tx1"/>
                </a:solidFill>
              </a:rPr>
              <a:t>Every AI call is logged: model, prompt version, evidence used, cost</a:t>
            </a:r>
            <a:endParaRPr lang="en-US" sz="15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822960"/>
          </a:xfrm>
          <a:prstGeom prst="rect">
            <a:avLst/>
          </a:prstGeom>
          <a:noFill/>
          <a:ln/>
        </p:spPr>
        <p:txBody>
          <a:bodyPr wrap="square" lIns="0" tIns="0" rIns="0" bIns="0" rtlCol="0" anchor="ctr"/>
          <a:lstStyle/>
          <a:p>
            <a:pPr algn="l" indent="0" marL="0">
              <a:buNone/>
            </a:pPr>
            <a:r>
              <a:rPr lang="en-US" sz="3200" b="1" dirty="0">
                <a:solidFill>
                  <a:schemeClr val="tx2"/>
                </a:solidFill>
              </a:rPr>
              <a:t>Built for production, not a prototype</a:t>
            </a:r>
            <a:endParaRPr lang="en-US" sz="3200" dirty="0"/>
          </a:p>
        </p:txBody>
      </p:sp>
      <p:sp>
        <p:nvSpPr>
          <p:cNvPr id="3" name="Text 1"/>
          <p:cNvSpPr txBox="1"/>
          <p:nvPr/>
        </p:nvSpPr>
        <p:spPr>
          <a:xfrm>
            <a:off x="548640" y="1417320"/>
            <a:ext cx="34747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156</a:t>
            </a:r>
            <a:endParaRPr lang="en-US" sz="5400" dirty="0"/>
          </a:p>
        </p:txBody>
      </p:sp>
      <p:sp>
        <p:nvSpPr>
          <p:cNvPr id="4" name="Text 2"/>
          <p:cNvSpPr txBox="1"/>
          <p:nvPr/>
        </p:nvSpPr>
        <p:spPr>
          <a:xfrm>
            <a:off x="548640" y="2377440"/>
            <a:ext cx="3474720" cy="731520"/>
          </a:xfrm>
          <a:prstGeom prst="rect">
            <a:avLst/>
          </a:prstGeom>
          <a:noFill/>
          <a:ln/>
        </p:spPr>
        <p:txBody>
          <a:bodyPr wrap="square" lIns="0" tIns="0" rIns="0" bIns="0" rtlCol="0" anchor="t"/>
          <a:lstStyle/>
          <a:p>
            <a:pPr indent="0" marL="0">
              <a:buNone/>
            </a:pPr>
            <a:r>
              <a:rPr lang="en-US" sz="1500" dirty="0">
                <a:solidFill>
                  <a:schemeClr val="tx1"/>
                </a:solidFill>
              </a:rPr>
              <a:t>automated tests</a:t>
            </a:r>
            <a:endParaRPr lang="en-US" sz="1500" dirty="0"/>
          </a:p>
          <a:p>
            <a:pPr indent="0" marL="0">
              <a:buNone/>
            </a:pPr>
            <a:r>
              <a:rPr lang="en-US" sz="1500" dirty="0">
                <a:solidFill>
                  <a:schemeClr val="tx1"/>
                </a:solidFill>
              </a:rPr>
              <a:t>(110 backend, 46 web)</a:t>
            </a:r>
            <a:endParaRPr lang="en-US" sz="1500" dirty="0"/>
          </a:p>
        </p:txBody>
      </p:sp>
      <p:sp>
        <p:nvSpPr>
          <p:cNvPr id="5" name="Text 3"/>
          <p:cNvSpPr txBox="1"/>
          <p:nvPr/>
        </p:nvSpPr>
        <p:spPr>
          <a:xfrm>
            <a:off x="4297680" y="1417320"/>
            <a:ext cx="34747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12 / 12</a:t>
            </a:r>
            <a:endParaRPr lang="en-US" sz="5400" dirty="0"/>
          </a:p>
        </p:txBody>
      </p:sp>
      <p:sp>
        <p:nvSpPr>
          <p:cNvPr id="6" name="Text 4"/>
          <p:cNvSpPr txBox="1"/>
          <p:nvPr/>
        </p:nvSpPr>
        <p:spPr>
          <a:xfrm>
            <a:off x="4297680" y="2377440"/>
            <a:ext cx="3474720" cy="731520"/>
          </a:xfrm>
          <a:prstGeom prst="rect">
            <a:avLst/>
          </a:prstGeom>
          <a:noFill/>
          <a:ln/>
        </p:spPr>
        <p:txBody>
          <a:bodyPr wrap="square" lIns="0" tIns="0" rIns="0" bIns="0" rtlCol="0" anchor="t"/>
          <a:lstStyle/>
          <a:p>
            <a:pPr indent="0" marL="0">
              <a:buNone/>
            </a:pPr>
            <a:r>
              <a:rPr lang="en-US" sz="1500" dirty="0">
                <a:solidFill>
                  <a:schemeClr val="tx1"/>
                </a:solidFill>
              </a:rPr>
              <a:t>quality metrics pass</a:t>
            </a:r>
            <a:endParaRPr lang="en-US" sz="1500" dirty="0"/>
          </a:p>
          <a:p>
            <a:pPr indent="0" marL="0">
              <a:buNone/>
            </a:pPr>
            <a:r>
              <a:rPr lang="en-US" sz="1500" dirty="0">
                <a:solidFill>
                  <a:schemeClr val="tx1"/>
                </a:solidFill>
              </a:rPr>
              <a:t>the release gate</a:t>
            </a:r>
            <a:endParaRPr lang="en-US" sz="1500" dirty="0"/>
          </a:p>
        </p:txBody>
      </p:sp>
      <p:sp>
        <p:nvSpPr>
          <p:cNvPr id="7" name="Text 5"/>
          <p:cNvSpPr txBox="1"/>
          <p:nvPr/>
        </p:nvSpPr>
        <p:spPr>
          <a:xfrm>
            <a:off x="8046720" y="1417320"/>
            <a:ext cx="3474720" cy="914400"/>
          </a:xfrm>
          <a:prstGeom prst="rect">
            <a:avLst/>
          </a:prstGeom>
          <a:noFill/>
          <a:ln/>
        </p:spPr>
        <p:txBody>
          <a:bodyPr wrap="square" lIns="0" tIns="0" rIns="0" bIns="0" rtlCol="0" anchor="t"/>
          <a:lstStyle/>
          <a:p>
            <a:pPr indent="0" marL="0">
              <a:buNone/>
            </a:pPr>
            <a:r>
              <a:rPr lang="en-US" sz="5400" b="1" dirty="0">
                <a:solidFill>
                  <a:schemeClr val="accent1"/>
                </a:solidFill>
                <a:latin typeface="Cambria" pitchFamily="34" charset="0"/>
                <a:ea typeface="Cambria" pitchFamily="34" charset="-122"/>
                <a:cs typeface="Cambria" pitchFamily="34" charset="-120"/>
              </a:rPr>
              <a:t>123</a:t>
            </a:r>
            <a:endParaRPr lang="en-US" sz="5400" dirty="0"/>
          </a:p>
        </p:txBody>
      </p:sp>
      <p:sp>
        <p:nvSpPr>
          <p:cNvPr id="8" name="Text 6"/>
          <p:cNvSpPr txBox="1"/>
          <p:nvPr/>
        </p:nvSpPr>
        <p:spPr>
          <a:xfrm>
            <a:off x="8046720" y="2377440"/>
            <a:ext cx="3474720" cy="731520"/>
          </a:xfrm>
          <a:prstGeom prst="rect">
            <a:avLst/>
          </a:prstGeom>
          <a:noFill/>
          <a:ln/>
        </p:spPr>
        <p:txBody>
          <a:bodyPr wrap="square" lIns="0" tIns="0" rIns="0" bIns="0" rtlCol="0" anchor="t"/>
          <a:lstStyle/>
          <a:p>
            <a:pPr indent="0" marL="0">
              <a:buNone/>
            </a:pPr>
            <a:r>
              <a:rPr lang="en-US" sz="1500" dirty="0">
                <a:solidFill>
                  <a:schemeClr val="tx1"/>
                </a:solidFill>
              </a:rPr>
              <a:t>documented API</a:t>
            </a:r>
            <a:endParaRPr lang="en-US" sz="1500" dirty="0"/>
          </a:p>
          <a:p>
            <a:pPr indent="0" marL="0">
              <a:buNone/>
            </a:pPr>
            <a:r>
              <a:rPr lang="en-US" sz="1500" dirty="0">
                <a:solidFill>
                  <a:schemeClr val="tx1"/>
                </a:solidFill>
              </a:rPr>
              <a:t>operations</a:t>
            </a:r>
            <a:endParaRPr lang="en-US" sz="1500" dirty="0"/>
          </a:p>
        </p:txBody>
      </p:sp>
      <p:sp>
        <p:nvSpPr>
          <p:cNvPr id="9" name="pillar 1 card"/>
          <p:cNvSpPr/>
          <p:nvPr/>
        </p:nvSpPr>
        <p:spPr>
          <a:xfrm>
            <a:off x="548640" y="3429000"/>
            <a:ext cx="3520440" cy="2194560"/>
          </a:xfrm>
          <a:prstGeom prst="roundRect">
            <a:avLst>
              <a:gd name="adj" fmla="val 5000"/>
            </a:avLst>
          </a:prstGeom>
          <a:solidFill>
            <a:schemeClr val="bg2"/>
          </a:solidFill>
          <a:ln/>
        </p:spPr>
      </p:sp>
      <p:sp>
        <p:nvSpPr>
          <p:cNvPr id="10" name="pillar 1 badge"/>
          <p:cNvSpPr/>
          <p:nvPr/>
        </p:nvSpPr>
        <p:spPr>
          <a:xfrm>
            <a:off x="822960" y="3703320"/>
            <a:ext cx="640080" cy="640080"/>
          </a:xfrm>
          <a:prstGeom prst="ellipse">
            <a:avLst/>
          </a:prstGeom>
          <a:solidFill>
            <a:schemeClr val="accent1"/>
          </a:solidFill>
          <a:ln/>
        </p:spPr>
      </p:sp>
      <p:pic>
        <p:nvPicPr>
          <p:cNvPr id="11" name="pillar 1 icon" descr="preencoded.png">    </p:cNvPr>
          <p:cNvPicPr>
            <a:picLocks noChangeAspect="1"/>
          </p:cNvPicPr>
          <p:nvPr/>
        </p:nvPicPr>
        <p:blipFill>
          <a:blip r:embed="rId1"/>
          <a:stretch>
            <a:fillRect/>
          </a:stretch>
        </p:blipFill>
        <p:spPr>
          <a:xfrm>
            <a:off x="976579" y="3856939"/>
            <a:ext cx="332842" cy="332842"/>
          </a:xfrm>
          <a:prstGeom prst="rect">
            <a:avLst/>
          </a:prstGeom>
        </p:spPr>
      </p:pic>
      <p:sp>
        <p:nvSpPr>
          <p:cNvPr id="12" name="Text 9"/>
          <p:cNvSpPr txBox="1"/>
          <p:nvPr/>
        </p:nvSpPr>
        <p:spPr>
          <a:xfrm>
            <a:off x="1645920" y="3822192"/>
            <a:ext cx="22860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Security</a:t>
            </a:r>
            <a:endParaRPr lang="en-US" sz="1900" dirty="0"/>
          </a:p>
        </p:txBody>
      </p:sp>
      <p:sp>
        <p:nvSpPr>
          <p:cNvPr id="13" name="Text 10"/>
          <p:cNvSpPr txBox="1"/>
          <p:nvPr/>
        </p:nvSpPr>
        <p:spPr>
          <a:xfrm>
            <a:off x="822960" y="4526280"/>
            <a:ext cx="3017520" cy="1280160"/>
          </a:xfrm>
          <a:prstGeom prst="rect">
            <a:avLst/>
          </a:prstGeom>
          <a:noFill/>
          <a:ln/>
        </p:spPr>
        <p:txBody>
          <a:bodyPr wrap="square" lIns="0" tIns="0" rIns="0" bIns="0" rtlCol="0" anchor="t"/>
          <a:lstStyle/>
          <a:p>
            <a:pPr indent="0" marL="0">
              <a:buNone/>
            </a:pPr>
            <a:r>
              <a:rPr lang="en-US" sz="1400" dirty="0">
                <a:solidFill>
                  <a:schemeClr val="tx1"/>
                </a:solidFill>
              </a:rPr>
              <a:t>Tenant isolation enforced in the database, SSO and role-based access, encrypted credentials</a:t>
            </a:r>
            <a:endParaRPr lang="en-US" sz="1400" dirty="0"/>
          </a:p>
        </p:txBody>
      </p:sp>
      <p:sp>
        <p:nvSpPr>
          <p:cNvPr id="14" name="pillar 2 card"/>
          <p:cNvSpPr/>
          <p:nvPr/>
        </p:nvSpPr>
        <p:spPr>
          <a:xfrm>
            <a:off x="4297680" y="3429000"/>
            <a:ext cx="3520440" cy="2194560"/>
          </a:xfrm>
          <a:prstGeom prst="roundRect">
            <a:avLst>
              <a:gd name="adj" fmla="val 5000"/>
            </a:avLst>
          </a:prstGeom>
          <a:solidFill>
            <a:schemeClr val="bg2"/>
          </a:solidFill>
          <a:ln/>
        </p:spPr>
      </p:sp>
      <p:sp>
        <p:nvSpPr>
          <p:cNvPr id="15" name="pillar 2 badge"/>
          <p:cNvSpPr/>
          <p:nvPr/>
        </p:nvSpPr>
        <p:spPr>
          <a:xfrm>
            <a:off x="4572000" y="3703320"/>
            <a:ext cx="640080" cy="640080"/>
          </a:xfrm>
          <a:prstGeom prst="ellipse">
            <a:avLst/>
          </a:prstGeom>
          <a:solidFill>
            <a:schemeClr val="accent1"/>
          </a:solidFill>
          <a:ln/>
        </p:spPr>
      </p:sp>
      <p:pic>
        <p:nvPicPr>
          <p:cNvPr id="16" name="pillar 2 icon" descr="preencoded.png">    </p:cNvPr>
          <p:cNvPicPr>
            <a:picLocks noChangeAspect="1"/>
          </p:cNvPicPr>
          <p:nvPr/>
        </p:nvPicPr>
        <p:blipFill>
          <a:blip r:embed="rId2"/>
          <a:stretch>
            <a:fillRect/>
          </a:stretch>
        </p:blipFill>
        <p:spPr>
          <a:xfrm>
            <a:off x="4725619" y="3856939"/>
            <a:ext cx="332842" cy="332842"/>
          </a:xfrm>
          <a:prstGeom prst="rect">
            <a:avLst/>
          </a:prstGeom>
        </p:spPr>
      </p:pic>
      <p:sp>
        <p:nvSpPr>
          <p:cNvPr id="17" name="Text 13"/>
          <p:cNvSpPr txBox="1"/>
          <p:nvPr/>
        </p:nvSpPr>
        <p:spPr>
          <a:xfrm>
            <a:off x="5394960" y="3822192"/>
            <a:ext cx="22860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Audit</a:t>
            </a:r>
            <a:endParaRPr lang="en-US" sz="1900" dirty="0"/>
          </a:p>
        </p:txBody>
      </p:sp>
      <p:sp>
        <p:nvSpPr>
          <p:cNvPr id="18" name="Text 14"/>
          <p:cNvSpPr txBox="1"/>
          <p:nvPr/>
        </p:nvSpPr>
        <p:spPr>
          <a:xfrm>
            <a:off x="4572000" y="4526280"/>
            <a:ext cx="3017520" cy="1280160"/>
          </a:xfrm>
          <a:prstGeom prst="rect">
            <a:avLst/>
          </a:prstGeom>
          <a:noFill/>
          <a:ln/>
        </p:spPr>
        <p:txBody>
          <a:bodyPr wrap="square" lIns="0" tIns="0" rIns="0" bIns="0" rtlCol="0" anchor="t"/>
          <a:lstStyle/>
          <a:p>
            <a:pPr indent="0" marL="0">
              <a:buNone/>
            </a:pPr>
            <a:r>
              <a:rPr lang="en-US" sz="1400" dirty="0">
                <a:solidFill>
                  <a:schemeClr val="tx1"/>
                </a:solidFill>
              </a:rPr>
              <a:t>Tamper-evident activity log; every raw source document kept unchanged with its checksum</a:t>
            </a:r>
            <a:endParaRPr lang="en-US" sz="1400" dirty="0"/>
          </a:p>
        </p:txBody>
      </p:sp>
      <p:sp>
        <p:nvSpPr>
          <p:cNvPr id="19" name="pillar 3 card"/>
          <p:cNvSpPr/>
          <p:nvPr/>
        </p:nvSpPr>
        <p:spPr>
          <a:xfrm>
            <a:off x="8046720" y="3429000"/>
            <a:ext cx="3520440" cy="2194560"/>
          </a:xfrm>
          <a:prstGeom prst="roundRect">
            <a:avLst>
              <a:gd name="adj" fmla="val 5000"/>
            </a:avLst>
          </a:prstGeom>
          <a:solidFill>
            <a:schemeClr val="bg2"/>
          </a:solidFill>
          <a:ln/>
        </p:spPr>
      </p:sp>
      <p:sp>
        <p:nvSpPr>
          <p:cNvPr id="20" name="pillar 3 badge"/>
          <p:cNvSpPr/>
          <p:nvPr/>
        </p:nvSpPr>
        <p:spPr>
          <a:xfrm>
            <a:off x="8321040" y="3703320"/>
            <a:ext cx="640080" cy="640080"/>
          </a:xfrm>
          <a:prstGeom prst="ellipse">
            <a:avLst/>
          </a:prstGeom>
          <a:solidFill>
            <a:schemeClr val="accent1"/>
          </a:solidFill>
          <a:ln/>
        </p:spPr>
      </p:sp>
      <p:pic>
        <p:nvPicPr>
          <p:cNvPr id="21" name="pillar 3 icon" descr="preencoded.png">    </p:cNvPr>
          <p:cNvPicPr>
            <a:picLocks noChangeAspect="1"/>
          </p:cNvPicPr>
          <p:nvPr/>
        </p:nvPicPr>
        <p:blipFill>
          <a:blip r:embed="rId3"/>
          <a:stretch>
            <a:fillRect/>
          </a:stretch>
        </p:blipFill>
        <p:spPr>
          <a:xfrm>
            <a:off x="8474659" y="3856939"/>
            <a:ext cx="332842" cy="332842"/>
          </a:xfrm>
          <a:prstGeom prst="rect">
            <a:avLst/>
          </a:prstGeom>
        </p:spPr>
      </p:pic>
      <p:sp>
        <p:nvSpPr>
          <p:cNvPr id="22" name="Text 17"/>
          <p:cNvSpPr txBox="1"/>
          <p:nvPr/>
        </p:nvSpPr>
        <p:spPr>
          <a:xfrm>
            <a:off x="9144000" y="3822192"/>
            <a:ext cx="2286000" cy="411480"/>
          </a:xfrm>
          <a:prstGeom prst="rect">
            <a:avLst/>
          </a:prstGeom>
          <a:noFill/>
          <a:ln/>
        </p:spPr>
        <p:txBody>
          <a:bodyPr wrap="square" lIns="0" tIns="0" rIns="0" bIns="0" rtlCol="0" anchor="t"/>
          <a:lstStyle/>
          <a:p>
            <a:pPr indent="0" marL="0">
              <a:buNone/>
            </a:pPr>
            <a:r>
              <a:rPr lang="en-US" sz="1900" b="1" dirty="0">
                <a:solidFill>
                  <a:schemeClr val="tx2"/>
                </a:solidFill>
                <a:latin typeface="Cambria" pitchFamily="34" charset="0"/>
                <a:ea typeface="Cambria" pitchFamily="34" charset="-122"/>
                <a:cs typeface="Cambria" pitchFamily="34" charset="-120"/>
              </a:rPr>
              <a:t>Run anywhere</a:t>
            </a:r>
            <a:endParaRPr lang="en-US" sz="1900" dirty="0"/>
          </a:p>
        </p:txBody>
      </p:sp>
      <p:sp>
        <p:nvSpPr>
          <p:cNvPr id="23" name="Text 18"/>
          <p:cNvSpPr txBox="1"/>
          <p:nvPr/>
        </p:nvSpPr>
        <p:spPr>
          <a:xfrm>
            <a:off x="8321040" y="4526280"/>
            <a:ext cx="3017520" cy="1280160"/>
          </a:xfrm>
          <a:prstGeom prst="rect">
            <a:avLst/>
          </a:prstGeom>
          <a:noFill/>
          <a:ln/>
        </p:spPr>
        <p:txBody>
          <a:bodyPr wrap="square" lIns="0" tIns="0" rIns="0" bIns="0" rtlCol="0" anchor="t"/>
          <a:lstStyle/>
          <a:p>
            <a:pPr indent="0" marL="0">
              <a:buNone/>
            </a:pPr>
            <a:r>
              <a:rPr lang="en-US" sz="1400" dirty="0">
                <a:solidFill>
                  <a:schemeClr val="tx1"/>
                </a:solidFill>
              </a:rPr>
              <a:t>One-command Mac install, one-click cloud, or Kubernetes on AWS with Terraform</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57200"/>
            <a:ext cx="11094415" cy="822960"/>
          </a:xfrm>
          <a:prstGeom prst="rect">
            <a:avLst/>
          </a:prstGeom>
          <a:noFill/>
          <a:ln/>
        </p:spPr>
        <p:txBody>
          <a:bodyPr wrap="square" lIns="0" tIns="0" rIns="0" bIns="0" rtlCol="0" anchor="ctr"/>
          <a:lstStyle/>
          <a:p>
            <a:pPr algn="l" indent="0" marL="0">
              <a:buNone/>
            </a:pPr>
            <a:r>
              <a:rPr lang="en-US" sz="3200" b="1" dirty="0">
                <a:solidFill>
                  <a:schemeClr val="bg1"/>
                </a:solidFill>
              </a:rPr>
              <a:t>Get started in three steps</a:t>
            </a:r>
            <a:endParaRPr lang="en-US" sz="3200" dirty="0"/>
          </a:p>
        </p:txBody>
      </p:sp>
      <p:sp>
        <p:nvSpPr>
          <p:cNvPr id="3" name="logo tile"/>
          <p:cNvSpPr/>
          <p:nvPr/>
        </p:nvSpPr>
        <p:spPr>
          <a:xfrm>
            <a:off x="10682935" y="384048"/>
            <a:ext cx="960120" cy="960120"/>
          </a:xfrm>
          <a:prstGeom prst="roundRect">
            <a:avLst>
              <a:gd name="adj" fmla="val 11429"/>
            </a:avLst>
          </a:prstGeom>
          <a:solidFill>
            <a:schemeClr val="bg1"/>
          </a:solidFill>
          <a:ln/>
        </p:spPr>
      </p:sp>
      <p:pic>
        <p:nvPicPr>
          <p:cNvPr id="4" name="XData logo" descr="/tmp/claude-0/-home-user-XData-Competitive-Clinical-Intelligence-Agent/f00f93d4-903b-5466-82ee-3a1d8c1c9082/scratchpad/xdata-official-logo.png">    </p:cNvPr>
          <p:cNvPicPr>
            <a:picLocks noChangeAspect="1"/>
          </p:cNvPicPr>
          <p:nvPr/>
        </p:nvPicPr>
        <p:blipFill>
          <a:blip r:embed="rId1"/>
          <a:stretch>
            <a:fillRect/>
          </a:stretch>
        </p:blipFill>
        <p:spPr>
          <a:xfrm>
            <a:off x="10792217" y="499262"/>
            <a:ext cx="741556" cy="729691"/>
          </a:xfrm>
          <a:prstGeom prst="rect">
            <a:avLst/>
          </a:prstGeom>
        </p:spPr>
      </p:pic>
      <p:sp>
        <p:nvSpPr>
          <p:cNvPr id="5" name="next 1 card"/>
          <p:cNvSpPr/>
          <p:nvPr/>
        </p:nvSpPr>
        <p:spPr>
          <a:xfrm>
            <a:off x="548640" y="1600200"/>
            <a:ext cx="3520440" cy="2880360"/>
          </a:xfrm>
          <a:prstGeom prst="roundRect">
            <a:avLst>
              <a:gd name="adj" fmla="val 3810"/>
            </a:avLst>
          </a:prstGeom>
          <a:solidFill>
            <a:schemeClr val="accent1">
              <a:alpha val="30000"/>
            </a:schemeClr>
          </a:solidFill>
          <a:ln/>
        </p:spPr>
      </p:sp>
      <p:sp>
        <p:nvSpPr>
          <p:cNvPr id="6" name="next 1 badge"/>
          <p:cNvSpPr/>
          <p:nvPr/>
        </p:nvSpPr>
        <p:spPr>
          <a:xfrm>
            <a:off x="822960" y="1874520"/>
            <a:ext cx="731520" cy="731520"/>
          </a:xfrm>
          <a:prstGeom prst="ellipse">
            <a:avLst/>
          </a:prstGeom>
          <a:solidFill>
            <a:schemeClr val="accent2"/>
          </a:solidFill>
          <a:ln/>
        </p:spPr>
      </p:sp>
      <p:pic>
        <p:nvPicPr>
          <p:cNvPr id="7" name="next 1 icon" descr="preencoded.png">    </p:cNvPr>
          <p:cNvPicPr>
            <a:picLocks noChangeAspect="1"/>
          </p:cNvPicPr>
          <p:nvPr/>
        </p:nvPicPr>
        <p:blipFill>
          <a:blip r:embed="rId2"/>
          <a:stretch>
            <a:fillRect/>
          </a:stretch>
        </p:blipFill>
        <p:spPr>
          <a:xfrm>
            <a:off x="998525" y="2050085"/>
            <a:ext cx="380390" cy="380390"/>
          </a:xfrm>
          <a:prstGeom prst="rect">
            <a:avLst/>
          </a:prstGeom>
        </p:spPr>
      </p:pic>
      <p:sp>
        <p:nvSpPr>
          <p:cNvPr id="8" name="Text 4"/>
          <p:cNvSpPr txBox="1"/>
          <p:nvPr/>
        </p:nvSpPr>
        <p:spPr>
          <a:xfrm>
            <a:off x="822960" y="278892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1. Install</a:t>
            </a:r>
            <a:endParaRPr lang="en-US" sz="2000" dirty="0"/>
          </a:p>
        </p:txBody>
      </p:sp>
      <p:sp>
        <p:nvSpPr>
          <p:cNvPr id="9" name="Text 5"/>
          <p:cNvSpPr txBox="1"/>
          <p:nvPr/>
        </p:nvSpPr>
        <p:spPr>
          <a:xfrm>
            <a:off x="822960" y="3291840"/>
            <a:ext cx="3017520" cy="1463040"/>
          </a:xfrm>
          <a:prstGeom prst="rect">
            <a:avLst/>
          </a:prstGeom>
          <a:noFill/>
          <a:ln/>
        </p:spPr>
        <p:txBody>
          <a:bodyPr wrap="square" lIns="0" tIns="0" rIns="0" bIns="0" rtlCol="0" anchor="t"/>
          <a:lstStyle/>
          <a:p>
            <a:pPr indent="0" marL="0">
              <a:buNone/>
            </a:pPr>
            <a:r>
              <a:rPr lang="en-US" sz="1500" dirty="0">
                <a:solidFill>
                  <a:schemeClr val="bg1"/>
                </a:solidFill>
              </a:rPr>
              <a:t>Paste one command in Terminal on a Mac. No Docker or admin rights; opens in your browser in about 5 minutes.</a:t>
            </a:r>
            <a:endParaRPr lang="en-US" sz="1500" dirty="0"/>
          </a:p>
        </p:txBody>
      </p:sp>
      <p:sp>
        <p:nvSpPr>
          <p:cNvPr id="10" name="next 2 card"/>
          <p:cNvSpPr/>
          <p:nvPr/>
        </p:nvSpPr>
        <p:spPr>
          <a:xfrm>
            <a:off x="4297680" y="1600200"/>
            <a:ext cx="3520440" cy="2880360"/>
          </a:xfrm>
          <a:prstGeom prst="roundRect">
            <a:avLst>
              <a:gd name="adj" fmla="val 3810"/>
            </a:avLst>
          </a:prstGeom>
          <a:solidFill>
            <a:schemeClr val="accent1">
              <a:alpha val="30000"/>
            </a:schemeClr>
          </a:solidFill>
          <a:ln/>
        </p:spPr>
      </p:sp>
      <p:sp>
        <p:nvSpPr>
          <p:cNvPr id="11" name="next 2 badge"/>
          <p:cNvSpPr/>
          <p:nvPr/>
        </p:nvSpPr>
        <p:spPr>
          <a:xfrm>
            <a:off x="4572000" y="1874520"/>
            <a:ext cx="731520" cy="731520"/>
          </a:xfrm>
          <a:prstGeom prst="ellipse">
            <a:avLst/>
          </a:prstGeom>
          <a:solidFill>
            <a:schemeClr val="accent2"/>
          </a:solidFill>
          <a:ln/>
        </p:spPr>
      </p:sp>
      <p:pic>
        <p:nvPicPr>
          <p:cNvPr id="12" name="next 2 icon" descr="preencoded.png">    </p:cNvPr>
          <p:cNvPicPr>
            <a:picLocks noChangeAspect="1"/>
          </p:cNvPicPr>
          <p:nvPr/>
        </p:nvPicPr>
        <p:blipFill>
          <a:blip r:embed="rId3"/>
          <a:stretch>
            <a:fillRect/>
          </a:stretch>
        </p:blipFill>
        <p:spPr>
          <a:xfrm>
            <a:off x="4747565" y="2050085"/>
            <a:ext cx="380390" cy="380390"/>
          </a:xfrm>
          <a:prstGeom prst="rect">
            <a:avLst/>
          </a:prstGeom>
        </p:spPr>
      </p:pic>
      <p:sp>
        <p:nvSpPr>
          <p:cNvPr id="13" name="Text 8"/>
          <p:cNvSpPr txBox="1"/>
          <p:nvPr/>
        </p:nvSpPr>
        <p:spPr>
          <a:xfrm>
            <a:off x="4572000" y="278892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2. Add your drug</a:t>
            </a:r>
            <a:endParaRPr lang="en-US" sz="2000" dirty="0"/>
          </a:p>
        </p:txBody>
      </p:sp>
      <p:sp>
        <p:nvSpPr>
          <p:cNvPr id="14" name="Text 9"/>
          <p:cNvSpPr txBox="1"/>
          <p:nvPr/>
        </p:nvSpPr>
        <p:spPr>
          <a:xfrm>
            <a:off x="4572000" y="3291840"/>
            <a:ext cx="3017520" cy="1463040"/>
          </a:xfrm>
          <a:prstGeom prst="rect">
            <a:avLst/>
          </a:prstGeom>
          <a:noFill/>
          <a:ln/>
        </p:spPr>
        <p:txBody>
          <a:bodyPr wrap="square" lIns="0" tIns="0" rIns="0" bIns="0" rtlCol="0" anchor="t"/>
          <a:lstStyle/>
          <a:p>
            <a:pPr indent="0" marL="0">
              <a:buNone/>
            </a:pPr>
            <a:r>
              <a:rPr lang="en-US" sz="1500" dirty="0">
                <a:solidFill>
                  <a:schemeClr val="bg1"/>
                </a:solidFill>
              </a:rPr>
              <a:t>Describe target, disease, line of therapy and biomarker. Every competitor change is scored against it.</a:t>
            </a:r>
            <a:endParaRPr lang="en-US" sz="1500" dirty="0"/>
          </a:p>
        </p:txBody>
      </p:sp>
      <p:sp>
        <p:nvSpPr>
          <p:cNvPr id="15" name="next 3 card"/>
          <p:cNvSpPr/>
          <p:nvPr/>
        </p:nvSpPr>
        <p:spPr>
          <a:xfrm>
            <a:off x="8046720" y="1600200"/>
            <a:ext cx="3520440" cy="2880360"/>
          </a:xfrm>
          <a:prstGeom prst="roundRect">
            <a:avLst>
              <a:gd name="adj" fmla="val 3810"/>
            </a:avLst>
          </a:prstGeom>
          <a:solidFill>
            <a:schemeClr val="accent1">
              <a:alpha val="30000"/>
            </a:schemeClr>
          </a:solidFill>
          <a:ln/>
        </p:spPr>
      </p:sp>
      <p:sp>
        <p:nvSpPr>
          <p:cNvPr id="16" name="next 3 badge"/>
          <p:cNvSpPr/>
          <p:nvPr/>
        </p:nvSpPr>
        <p:spPr>
          <a:xfrm>
            <a:off x="8321040" y="1874520"/>
            <a:ext cx="731520" cy="731520"/>
          </a:xfrm>
          <a:prstGeom prst="ellipse">
            <a:avLst/>
          </a:prstGeom>
          <a:solidFill>
            <a:schemeClr val="accent2"/>
          </a:solidFill>
          <a:ln/>
        </p:spPr>
      </p:sp>
      <p:pic>
        <p:nvPicPr>
          <p:cNvPr id="17" name="next 3 icon" descr="preencoded.png">    </p:cNvPr>
          <p:cNvPicPr>
            <a:picLocks noChangeAspect="1"/>
          </p:cNvPicPr>
          <p:nvPr/>
        </p:nvPicPr>
        <p:blipFill>
          <a:blip r:embed="rId4"/>
          <a:stretch>
            <a:fillRect/>
          </a:stretch>
        </p:blipFill>
        <p:spPr>
          <a:xfrm>
            <a:off x="8496605" y="2050085"/>
            <a:ext cx="380390" cy="380390"/>
          </a:xfrm>
          <a:prstGeom prst="rect">
            <a:avLst/>
          </a:prstGeom>
        </p:spPr>
      </p:pic>
      <p:sp>
        <p:nvSpPr>
          <p:cNvPr id="18" name="Text 12"/>
          <p:cNvSpPr txBox="1"/>
          <p:nvPr/>
        </p:nvSpPr>
        <p:spPr>
          <a:xfrm>
            <a:off x="8321040" y="2788920"/>
            <a:ext cx="3017520" cy="45720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3. Tune what it watches</a:t>
            </a:r>
            <a:endParaRPr lang="en-US" sz="2000" dirty="0"/>
          </a:p>
        </p:txBody>
      </p:sp>
      <p:sp>
        <p:nvSpPr>
          <p:cNvPr id="19" name="Text 13"/>
          <p:cNvSpPr txBox="1"/>
          <p:nvPr/>
        </p:nvSpPr>
        <p:spPr>
          <a:xfrm>
            <a:off x="8321040" y="3291840"/>
            <a:ext cx="3017520" cy="1463040"/>
          </a:xfrm>
          <a:prstGeom prst="rect">
            <a:avLst/>
          </a:prstGeom>
          <a:noFill/>
          <a:ln/>
        </p:spPr>
        <p:txBody>
          <a:bodyPr wrap="square" lIns="0" tIns="0" rIns="0" bIns="0" rtlCol="0" anchor="t"/>
          <a:lstStyle/>
          <a:p>
            <a:pPr indent="0" marL="0">
              <a:buNone/>
            </a:pPr>
            <a:r>
              <a:rPr lang="en-US" sz="1500" dirty="0">
                <a:solidFill>
                  <a:schemeClr val="bg1"/>
                </a:solidFill>
              </a:rPr>
              <a:t>Set the trial, PubMed and FDA searches; add a Claude API key for AI-written summaries.</a:t>
            </a:r>
            <a:endParaRPr lang="en-US" sz="1500" dirty="0"/>
          </a:p>
        </p:txBody>
      </p:sp>
      <p:sp>
        <p:nvSpPr>
          <p:cNvPr id="20" name="contact badge"/>
          <p:cNvSpPr/>
          <p:nvPr/>
        </p:nvSpPr>
        <p:spPr>
          <a:xfrm>
            <a:off x="548640" y="4846320"/>
            <a:ext cx="594360" cy="594360"/>
          </a:xfrm>
          <a:prstGeom prst="ellipse">
            <a:avLst/>
          </a:prstGeom>
          <a:solidFill>
            <a:schemeClr val="accent1"/>
          </a:solidFill>
          <a:ln/>
        </p:spPr>
      </p:sp>
      <p:pic>
        <p:nvPicPr>
          <p:cNvPr id="21" name="contact icon" descr="preencoded.png">    </p:cNvPr>
          <p:cNvPicPr>
            <a:picLocks noChangeAspect="1"/>
          </p:cNvPicPr>
          <p:nvPr/>
        </p:nvPicPr>
        <p:blipFill>
          <a:blip r:embed="rId5"/>
          <a:stretch>
            <a:fillRect/>
          </a:stretch>
        </p:blipFill>
        <p:spPr>
          <a:xfrm>
            <a:off x="691286" y="4988966"/>
            <a:ext cx="309067" cy="309067"/>
          </a:xfrm>
          <a:prstGeom prst="rect">
            <a:avLst/>
          </a:prstGeom>
        </p:spPr>
      </p:pic>
      <p:sp>
        <p:nvSpPr>
          <p:cNvPr id="22" name="Text 15"/>
          <p:cNvSpPr txBox="1"/>
          <p:nvPr/>
        </p:nvSpPr>
        <p:spPr>
          <a:xfrm>
            <a:off x="1325880" y="4846320"/>
            <a:ext cx="8229600" cy="594360"/>
          </a:xfrm>
          <a:prstGeom prst="rect">
            <a:avLst/>
          </a:prstGeom>
          <a:noFill/>
          <a:ln/>
        </p:spPr>
        <p:txBody>
          <a:bodyPr wrap="square" lIns="0" tIns="0" rIns="0" bIns="0" rtlCol="0" anchor="ctr"/>
          <a:lstStyle/>
          <a:p>
            <a:pPr indent="0" marL="0">
              <a:buNone/>
            </a:pPr>
            <a:r>
              <a:rPr lang="en-US" sz="2000" b="1" dirty="0">
                <a:solidFill>
                  <a:schemeClr val="bg1"/>
                </a:solidFill>
              </a:rPr>
              <a:t>Get in touch:  </a:t>
            </a:r>
            <a:pPr indent="0" marL="0">
              <a:buNone/>
            </a:pPr>
            <a:r>
              <a:rPr lang="en-US" sz="2000" dirty="0">
                <a:solidFill>
                  <a:schemeClr val="bg1"/>
                </a:solidFill>
              </a:rPr>
              <a:t>rathi.dasgupta@gmail.com</a:t>
            </a:r>
            <a:endParaRPr lang="en-US" sz="2000" dirty="0"/>
          </a:p>
        </p:txBody>
      </p:sp>
      <p:sp>
        <p:nvSpPr>
          <p:cNvPr id="23" name="Text 16"/>
          <p:cNvSpPr txBox="1"/>
          <p:nvPr/>
        </p:nvSpPr>
        <p:spPr>
          <a:xfrm>
            <a:off x="548640" y="5715000"/>
            <a:ext cx="11094415" cy="411480"/>
          </a:xfrm>
          <a:prstGeom prst="rect">
            <a:avLst/>
          </a:prstGeom>
          <a:noFill/>
          <a:ln/>
        </p:spPr>
        <p:txBody>
          <a:bodyPr wrap="square" lIns="0" tIns="0" rIns="0" bIns="0" rtlCol="0" anchor="t"/>
          <a:lstStyle/>
          <a:p>
            <a:pPr indent="0" marL="0">
              <a:buNone/>
            </a:pPr>
            <a:r>
              <a:rPr lang="en-US" sz="1400" i="1" dirty="0">
                <a:solidFill>
                  <a:schemeClr val="accent3"/>
                </a:solidFill>
              </a:rPr>
              <a:t>Decision support only: facts are evidence-linked; interpretations are labelled AI hypotheses.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3"/>
                </a:solidFill>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XData Clinical">
  <a:themeElements>
    <a:clrScheme name="XData Clinical">
      <a:dk1>
        <a:srgbClr val="14232E"/>
      </a:dk1>
      <a:lt1>
        <a:srgbClr val="FFFFFF"/>
      </a:lt1>
      <a:dk2>
        <a:srgbClr val="0B3B47"/>
      </a:dk2>
      <a:lt2>
        <a:srgbClr val="EEF5F4"/>
      </a:lt2>
      <a:accent1>
        <a:srgbClr val="0F7C7A"/>
      </a:accent1>
      <a:accent2>
        <a:srgbClr val="E4572E"/>
      </a:accent2>
      <a:accent3>
        <a:srgbClr val="6BBFB2"/>
      </a:accent3>
      <a:accent4>
        <a:srgbClr val="F2A541"/>
      </a:accent4>
      <a:accent5>
        <a:srgbClr val="4C6A78"/>
      </a:accent5>
      <a:accent6>
        <a:srgbClr val="9FB8C2"/>
      </a:accent6>
      <a:hlink>
        <a:srgbClr val="0F7C7A"/>
      </a:hlink>
      <a:folHlink>
        <a:srgbClr val="4C6A78"/>
      </a:folHlink>
    </a:clrScheme>
    <a:fontScheme name="XData Clinic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XData Competitive &amp; Clinical Intelligence Agent</dc:title>
  <dc:subject>Solution overview</dc:subject>
  <dc:creator>XData</dc:creator>
  <cp:lastModifiedBy>XData</cp:lastModifiedBy>
  <cp:revision>1</cp:revision>
  <dcterms:created xsi:type="dcterms:W3CDTF">2026-10-20T22:32:40Z</dcterms:created>
  <dcterms:modified xsi:type="dcterms:W3CDTF">2026-10-20T22:32:40Z</dcterms:modified>
</cp:coreProperties>
</file>